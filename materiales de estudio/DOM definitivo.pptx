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76" r:id="rId3"/>
    <p:sldId id="293" r:id="rId4"/>
    <p:sldId id="288" r:id="rId5"/>
    <p:sldId id="290" r:id="rId6"/>
    <p:sldId id="283" r:id="rId7"/>
    <p:sldId id="287" r:id="rId8"/>
    <p:sldId id="289" r:id="rId9"/>
    <p:sldId id="291" r:id="rId10"/>
    <p:sldId id="292" r:id="rId11"/>
    <p:sldId id="28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880"/>
    <a:srgbClr val="9CD2BB"/>
    <a:srgbClr val="0E2C3E"/>
    <a:srgbClr val="FBCC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6395" autoAdjust="0"/>
  </p:normalViewPr>
  <p:slideViewPr>
    <p:cSldViewPr snapToGrid="0" showGuides="1">
      <p:cViewPr varScale="1">
        <p:scale>
          <a:sx n="71" d="100"/>
          <a:sy n="71" d="100"/>
        </p:scale>
        <p:origin x="696" y="78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B46527B0-0B24-4087-B225-DB4F5C738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72798E0-F322-4236-8531-A1882BFE4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533067C-2384-41D2-8B82-9349FDE7AD9D}" type="datetime1">
              <a:rPr lang="es-ES" smtClean="0"/>
              <a:t>10/09/2026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E5881F-2FD0-41BC-8E76-C691E59E1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2CA62C5-8A29-4592-9E3E-4C457F263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4E85F6F-0FAD-4AD4-850C-7E4CD14D7D7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83274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87F61-0961-4A80-86AF-2E6D11CE3A9F}" type="datetime1">
              <a:rPr lang="es-ES" smtClean="0"/>
              <a:pPr/>
              <a:t>10/09/2026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60DC36-8EFA-4378-9855-E019C55AC47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79074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97579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43729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29866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44230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775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1670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4699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89733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54801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91CBFF-97A1-49ED-83E9-FDA97DDB726E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4697230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91CBFF-97A1-49ED-83E9-FDA97DDB726E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915602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26E2C9A-6E6B-4DE2-9D7E-0168118DA85E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62988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DD3C7AD-55D7-4E20-92A5-23F8ADA045B5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13397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D5A9890-7C2F-4316-86E6-1027E38BCA8D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27901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B8FD95A-F0F2-4ACB-AC1A-6D40283DCDB8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98195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713B84F-F510-4A6A-83E4-3731FCBA9972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66542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413D684-A939-43AF-87DA-DE75AAA6C3E7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06513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91CBFF-97A1-49ED-83E9-FDA97DDB726E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368155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91CBFF-97A1-49ED-83E9-FDA97DDB726E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620524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91CBFF-97A1-49ED-83E9-FDA97DDB726E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907662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91CBFF-97A1-49ED-83E9-FDA97DDB726E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230418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91CBFF-97A1-49ED-83E9-FDA97DDB726E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318745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91CBFF-97A1-49ED-83E9-FDA97DDB726E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441751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91CBFF-97A1-49ED-83E9-FDA97DDB726E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4918848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BF1ECC5-2A51-4AC7-B15E-A2E400532EC9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569120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128246-380C-4290-A6AD-7E81562CB6AD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15865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3000">
              <a:schemeClr val="accent3">
                <a:lumMod val="75000"/>
              </a:schemeClr>
            </a:gs>
            <a:gs pos="48000">
              <a:srgbClr val="0E2C3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A391CBFF-97A1-49ED-83E9-FDA97DDB726E}" type="datetime1">
              <a:rPr lang="es-ES" noProof="0" smtClean="0"/>
              <a:t>10/09/2026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06FEDF93-2BFD-41CA-ABC7-B039102F379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06410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s/docs/Web/API/Document_Object_Model/Introductio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76036"/>
            <a:ext cx="9144000" cy="1446550"/>
          </a:xfrm>
        </p:spPr>
        <p:txBody>
          <a:bodyPr lIns="0" tIns="0" rIns="0" bIns="0" rtlCol="0" anchor="t">
            <a:spAutoFit/>
          </a:bodyPr>
          <a:lstStyle/>
          <a:p>
            <a:r>
              <a:rPr lang="es-ES" b="1" dirty="0">
                <a:solidFill>
                  <a:schemeClr val="tx1">
                    <a:lumMod val="85000"/>
                  </a:schemeClr>
                </a:solidFill>
              </a:rPr>
              <a:t>DOM</a:t>
            </a:r>
            <a:br>
              <a:rPr lang="es-ES" dirty="0">
                <a:solidFill>
                  <a:schemeClr val="bg1"/>
                </a:solidFill>
              </a:rPr>
            </a:br>
            <a:r>
              <a:rPr lang="es-ES" sz="4000" dirty="0">
                <a:solidFill>
                  <a:schemeClr val="accent4"/>
                </a:solidFill>
              </a:rPr>
              <a:t> </a:t>
            </a:r>
            <a:r>
              <a:rPr lang="es-ES" sz="40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Modelo de objeto de documento</a:t>
            </a:r>
            <a:endParaRPr lang="es-E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96335" y="518218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5" name="Rombo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29274" y="25094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7" name="Grupo 6" descr="Icono de gráfico.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851021" y="3724968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orma libre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9" name="Forma libre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es-ES" dirty="0"/>
              <a:t>Diapositiva de análisis de proyecto 2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8309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s-ES" sz="6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DOM</a:t>
            </a:r>
            <a:endParaRPr lang="es-ES" sz="6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ECC87D65-D1D6-4EF7-96DF-26D8ED2EDB28}"/>
              </a:ext>
            </a:extLst>
          </p:cNvPr>
          <p:cNvSpPr/>
          <p:nvPr/>
        </p:nvSpPr>
        <p:spPr>
          <a:xfrm>
            <a:off x="708211" y="1490008"/>
            <a:ext cx="1077557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dirty="0"/>
              <a:t>El modelo de objeto de documento (DOM) </a:t>
            </a:r>
            <a:r>
              <a:rPr lang="es-ES" sz="2000" dirty="0" err="1"/>
              <a:t>Document</a:t>
            </a:r>
            <a:r>
              <a:rPr lang="es-ES" sz="2000" dirty="0"/>
              <a:t> </a:t>
            </a:r>
            <a:r>
              <a:rPr lang="es-ES" sz="2000" dirty="0" err="1"/>
              <a:t>Object</a:t>
            </a:r>
            <a:r>
              <a:rPr lang="es-ES" sz="2000" dirty="0"/>
              <a:t> </a:t>
            </a:r>
            <a:r>
              <a:rPr lang="es-ES" sz="2000" dirty="0" err="1"/>
              <a:t>Model</a:t>
            </a:r>
            <a:r>
              <a:rPr lang="es-ES" sz="2000" dirty="0"/>
              <a:t> es una </a:t>
            </a:r>
            <a:r>
              <a:rPr lang="es-ES" sz="2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representación en forma de objetos y árbol jerárquico de un documento HTML </a:t>
            </a:r>
            <a:r>
              <a:rPr lang="es-ES" sz="2000" dirty="0"/>
              <a:t>que el navegador crea cuando carga una página.</a:t>
            </a:r>
            <a:br>
              <a:rPr lang="es-ES" sz="2000" dirty="0"/>
            </a:br>
            <a:br>
              <a:rPr lang="es-ES" sz="2000" dirty="0"/>
            </a:br>
            <a:r>
              <a:rPr lang="es-ES" sz="2000" dirty="0"/>
              <a:t>Facilita una representación estructurada del documento y define de qué manera los programas pueden acceder, al fin de modificar, tanto su estructura, estilo y contenido.</a:t>
            </a:r>
            <a:endParaRPr lang="es-AR" sz="20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EF1DB9B-0971-4E03-820F-E3F11E795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911" y="3647270"/>
            <a:ext cx="6387728" cy="2635624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F0071D6A-AE0D-4264-BB8C-22E822D3D787}"/>
              </a:ext>
            </a:extLst>
          </p:cNvPr>
          <p:cNvSpPr/>
          <p:nvPr/>
        </p:nvSpPr>
        <p:spPr>
          <a:xfrm>
            <a:off x="708210" y="3683676"/>
            <a:ext cx="372931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El DOM da una representación del documento como un grupo de nodos y objetos estructurados que tienen propiedades y métodos. Esencialmente, conecta las páginas web a scripts o lenguajes de programación.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79AFCC1-C46C-49DF-9B15-D20E2E9DA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121"/>
            <a:ext cx="12192000" cy="6643757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94C7F48-C18F-47E8-8829-D17646D22931}"/>
              </a:ext>
            </a:extLst>
          </p:cNvPr>
          <p:cNvSpPr/>
          <p:nvPr/>
        </p:nvSpPr>
        <p:spPr>
          <a:xfrm>
            <a:off x="6808693" y="6064623"/>
            <a:ext cx="5383307" cy="578678"/>
          </a:xfrm>
          <a:prstGeom prst="roundRect">
            <a:avLst/>
          </a:prstGeom>
          <a:solidFill>
            <a:srgbClr val="9CD2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accede a los elementos HTML </a:t>
            </a:r>
            <a:endParaRPr lang="es-AR" sz="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356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es-ES" dirty="0"/>
              <a:t>Diapositiva de análisis de proyecto 2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598" y="392439"/>
            <a:ext cx="11734800" cy="7478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400" dirty="0"/>
              <a:t>Estructura del árbol DOM de HTML</a:t>
            </a:r>
            <a:endParaRPr lang="es-E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ECC87D65-D1D6-4EF7-96DF-26D8ED2EDB28}"/>
              </a:ext>
            </a:extLst>
          </p:cNvPr>
          <p:cNvSpPr/>
          <p:nvPr/>
        </p:nvSpPr>
        <p:spPr>
          <a:xfrm>
            <a:off x="708210" y="2505670"/>
            <a:ext cx="1077557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/>
              <a:t>El DOM proporciona un conjunto de métodos que permiten a los lenguajes de programación, como JavaScript, acceder al árbol DOM. Con estos métodos, se puede modificar la estructura, el estilo o el contenido del documento. Esto hace que una página web sea interactiva y dinámica.</a:t>
            </a:r>
            <a:endParaRPr lang="es-AR" sz="24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1DD0FE6-5822-459F-B343-E8D9AEE6A2F1}"/>
              </a:ext>
            </a:extLst>
          </p:cNvPr>
          <p:cNvSpPr/>
          <p:nvPr/>
        </p:nvSpPr>
        <p:spPr>
          <a:xfrm>
            <a:off x="708210" y="5078919"/>
            <a:ext cx="98073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Cada etiqueta, texto, comentario, atributo, etc., se convierte en un </a:t>
            </a:r>
            <a:r>
              <a:rPr lang="es-ES" sz="2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nodo</a:t>
            </a:r>
            <a:r>
              <a:rPr lang="es-E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dentro de ese árbol.</a:t>
            </a:r>
            <a:endParaRPr lang="es-AR"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54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es-ES" dirty="0"/>
              <a:t>Diapositiva de análisis de proyecto 2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478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400" dirty="0"/>
              <a:t>Estructura del árbol DOM de HTML</a:t>
            </a:r>
            <a:endParaRPr lang="es-E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A09AB724-8AEF-4CEC-8BDF-C7E0DE888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8397"/>
            <a:ext cx="9114305" cy="5781651"/>
          </a:xfrm>
          <a:prstGeom prst="rect">
            <a:avLst/>
          </a:prstGeom>
        </p:spPr>
      </p:pic>
      <p:sp>
        <p:nvSpPr>
          <p:cNvPr id="2" name="Cerrar llave 1">
            <a:extLst>
              <a:ext uri="{FF2B5EF4-FFF2-40B4-BE49-F238E27FC236}">
                <a16:creationId xmlns:a16="http://schemas.microsoft.com/office/drawing/2014/main" id="{510AC54A-216F-41C4-8AC0-D305A7939865}"/>
              </a:ext>
            </a:extLst>
          </p:cNvPr>
          <p:cNvSpPr/>
          <p:nvPr/>
        </p:nvSpPr>
        <p:spPr>
          <a:xfrm>
            <a:off x="9351029" y="2998693"/>
            <a:ext cx="443753" cy="230139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684A7C-0307-453C-9754-877B90AE3748}"/>
              </a:ext>
            </a:extLst>
          </p:cNvPr>
          <p:cNvSpPr/>
          <p:nvPr/>
        </p:nvSpPr>
        <p:spPr>
          <a:xfrm>
            <a:off x="10031506" y="3339899"/>
            <a:ext cx="216049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es-ES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 JavaScript</a:t>
            </a:r>
          </a:p>
          <a:p>
            <a:pPr rtl="0"/>
            <a:r>
              <a:rPr lang="es-ES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Podemos Recorrer y modificar esta estructura</a:t>
            </a:r>
          </a:p>
        </p:txBody>
      </p:sp>
    </p:spTree>
    <p:extLst>
      <p:ext uri="{BB962C8B-B14F-4D97-AF65-F5344CB8AC3E}">
        <p14:creationId xmlns:p14="http://schemas.microsoft.com/office/powerpoint/2010/main" val="92397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 hidden="1">
            <a:extLst>
              <a:ext uri="{FF2B5EF4-FFF2-40B4-BE49-F238E27FC236}">
                <a16:creationId xmlns:a16="http://schemas.microsoft.com/office/drawing/2014/main" id="{A588A72A-976E-478A-9DD3-765AB3ED4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es-ES" dirty="0"/>
              <a:t>Diapositiva de análisis de proyecto 8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Nodos y elementos</a:t>
            </a:r>
            <a:endParaRPr lang="es-E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C1CAF08-13B9-48BA-A271-8CE5B568A664}"/>
              </a:ext>
            </a:extLst>
          </p:cNvPr>
          <p:cNvSpPr/>
          <p:nvPr/>
        </p:nvSpPr>
        <p:spPr>
          <a:xfrm>
            <a:off x="1202869" y="1961086"/>
            <a:ext cx="4967514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b="1" dirty="0">
                <a:latin typeface="+mj-lt"/>
              </a:rPr>
              <a:t>Tipo de Nodo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D1B1E083-D07C-4934-9782-F7CCA3539ACF}"/>
              </a:ext>
            </a:extLst>
          </p:cNvPr>
          <p:cNvSpPr/>
          <p:nvPr/>
        </p:nvSpPr>
        <p:spPr>
          <a:xfrm>
            <a:off x="6286499" y="1961086"/>
            <a:ext cx="4967514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b="1" dirty="0">
                <a:latin typeface="+mj-lt"/>
              </a:rPr>
              <a:t>Que representa 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C917D965-B5BB-41DC-BB5E-C27AF802DD50}"/>
              </a:ext>
            </a:extLst>
          </p:cNvPr>
          <p:cNvSpPr/>
          <p:nvPr/>
        </p:nvSpPr>
        <p:spPr>
          <a:xfrm rot="16200000">
            <a:off x="-115911" y="3191103"/>
            <a:ext cx="1972763" cy="664797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b="1" dirty="0">
                <a:latin typeface="+mj-lt"/>
              </a:rPr>
              <a:t>Conceptos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CBC1BB2-55FC-4E8F-A171-32FAA82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58671" y="3318520"/>
            <a:ext cx="989534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B31A2EAE-EBE4-4CB7-9D0A-105837E80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55658" y="2104573"/>
            <a:ext cx="0" cy="407851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ángulo 42">
            <a:extLst>
              <a:ext uri="{FF2B5EF4-FFF2-40B4-BE49-F238E27FC236}">
                <a16:creationId xmlns:a16="http://schemas.microsoft.com/office/drawing/2014/main" id="{6173DD7D-A9F5-4D7E-A942-64AE3F48B264}"/>
              </a:ext>
            </a:extLst>
          </p:cNvPr>
          <p:cNvSpPr/>
          <p:nvPr/>
        </p:nvSpPr>
        <p:spPr>
          <a:xfrm>
            <a:off x="1605182" y="2811696"/>
            <a:ext cx="416287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Element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node</a:t>
            </a:r>
            <a:endParaRPr lang="es-ES" sz="20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5967C4C-72D9-469E-BB08-F31A36FBD11D}"/>
              </a:ext>
            </a:extLst>
          </p:cNvPr>
          <p:cNvSpPr/>
          <p:nvPr/>
        </p:nvSpPr>
        <p:spPr>
          <a:xfrm>
            <a:off x="6657971" y="2732624"/>
            <a:ext cx="416287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Una Etiqueta </a:t>
            </a:r>
            <a:r>
              <a:rPr lang="es-ES" sz="20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html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  &lt;p&gt;, &lt;</a:t>
            </a:r>
            <a:r>
              <a:rPr lang="es-ES" sz="20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div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&gt; &lt;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img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83C05E2-A581-44C9-B2B6-648C9F5B4BF2}"/>
              </a:ext>
            </a:extLst>
          </p:cNvPr>
          <p:cNvSpPr/>
          <p:nvPr/>
        </p:nvSpPr>
        <p:spPr>
          <a:xfrm>
            <a:off x="1625148" y="3429000"/>
            <a:ext cx="416287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Text </a:t>
            </a:r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node</a:t>
            </a:r>
            <a:endParaRPr lang="es-ES" sz="20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4234538-8657-4C0F-93F2-772969EFF7BA}"/>
              </a:ext>
            </a:extLst>
          </p:cNvPr>
          <p:cNvSpPr/>
          <p:nvPr/>
        </p:nvSpPr>
        <p:spPr>
          <a:xfrm>
            <a:off x="1616075" y="4981002"/>
            <a:ext cx="416287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Comment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node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752977A-BD7B-4AED-9EFD-7E24C6C0A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11349" y="4035696"/>
            <a:ext cx="989534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8591B604-0BC9-41E2-B637-E5CD4307DA27}"/>
              </a:ext>
            </a:extLst>
          </p:cNvPr>
          <p:cNvSpPr/>
          <p:nvPr/>
        </p:nvSpPr>
        <p:spPr>
          <a:xfrm>
            <a:off x="6484243" y="3394458"/>
            <a:ext cx="35216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dirty="0"/>
              <a:t>El texto dentro de una etiqueta</a:t>
            </a:r>
            <a:endParaRPr lang="es-AR" sz="20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0A33A787-FAA9-4951-8115-EAAA6036DB58}"/>
              </a:ext>
            </a:extLst>
          </p:cNvPr>
          <p:cNvSpPr/>
          <p:nvPr/>
        </p:nvSpPr>
        <p:spPr>
          <a:xfrm>
            <a:off x="6484243" y="3680022"/>
            <a:ext cx="26805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dirty="0"/>
              <a:t>“hola” &lt;p&gt; Hola&lt;/p&gt;</a:t>
            </a:r>
            <a:endParaRPr lang="es-AR" sz="2000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10127B2-7C85-41CF-883B-E25EC2089229}"/>
              </a:ext>
            </a:extLst>
          </p:cNvPr>
          <p:cNvSpPr/>
          <p:nvPr/>
        </p:nvSpPr>
        <p:spPr>
          <a:xfrm>
            <a:off x="6502266" y="4137027"/>
            <a:ext cx="56525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dirty="0"/>
              <a:t>Los atributos de un elemento   </a:t>
            </a:r>
            <a:r>
              <a:rPr lang="es-ES" sz="2000" dirty="0" err="1"/>
              <a:t>class</a:t>
            </a:r>
            <a:r>
              <a:rPr lang="es-ES" sz="2000" dirty="0"/>
              <a:t>= “color: red;”</a:t>
            </a:r>
            <a:endParaRPr lang="es-AR" sz="2000" dirty="0"/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7AD2C4FF-69DC-49ED-9170-906A26D59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11349" y="4690861"/>
            <a:ext cx="989534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 35">
            <a:extLst>
              <a:ext uri="{FF2B5EF4-FFF2-40B4-BE49-F238E27FC236}">
                <a16:creationId xmlns:a16="http://schemas.microsoft.com/office/drawing/2014/main" id="{34943F32-6FDA-4F3A-92E2-32CB90B7EDA5}"/>
              </a:ext>
            </a:extLst>
          </p:cNvPr>
          <p:cNvSpPr/>
          <p:nvPr/>
        </p:nvSpPr>
        <p:spPr>
          <a:xfrm>
            <a:off x="1605182" y="4202726"/>
            <a:ext cx="416287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Atribute </a:t>
            </a:r>
            <a:r>
              <a:rPr lang="es-E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node</a:t>
            </a:r>
            <a:endParaRPr lang="es-ES" sz="20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52153F78-A6C0-4161-8806-0F5275401FF5}"/>
              </a:ext>
            </a:extLst>
          </p:cNvPr>
          <p:cNvSpPr/>
          <p:nvPr/>
        </p:nvSpPr>
        <p:spPr>
          <a:xfrm>
            <a:off x="6536431" y="4905246"/>
            <a:ext cx="59282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dirty="0"/>
              <a:t>Un comentario en el HTML   &lt;!—Un comentario--&gt;</a:t>
            </a:r>
            <a:endParaRPr lang="es-AR" sz="20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465A0B1-0AB6-46A2-9E04-7CC63226FD53}"/>
              </a:ext>
            </a:extLst>
          </p:cNvPr>
          <p:cNvSpPr/>
          <p:nvPr/>
        </p:nvSpPr>
        <p:spPr>
          <a:xfrm>
            <a:off x="925514" y="1025347"/>
            <a:ext cx="9895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El DOM está hecho de </a:t>
            </a:r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nodos</a:t>
            </a:r>
            <a:r>
              <a:rPr lang="es-E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. Hay varios tipos, pero los más usados son:</a:t>
            </a:r>
            <a:endParaRPr lang="es-AR" sz="2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364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467499"/>
            <a:ext cx="11734800" cy="9971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s-E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Diferencia entre Elemento y</a:t>
            </a:r>
          </a:p>
          <a:p>
            <a:pPr algn="ctr" rtl="0"/>
            <a:r>
              <a:rPr lang="es-E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Nodo</a:t>
            </a:r>
            <a:endParaRPr lang="es-E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09C05F0C-382F-476A-A0D2-932E111A7F9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>
            <a:normAutofit/>
          </a:bodyPr>
          <a:lstStyle/>
          <a:p>
            <a:r>
              <a:rPr lang="es-ES" dirty="0"/>
              <a:t>Diapositiva de análisis de proyecto 11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F88A15-6CE6-42D3-A1DD-918C5E134189}"/>
              </a:ext>
            </a:extLst>
          </p:cNvPr>
          <p:cNvSpPr/>
          <p:nvPr/>
        </p:nvSpPr>
        <p:spPr>
          <a:xfrm>
            <a:off x="708209" y="2159077"/>
            <a:ext cx="107755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600" b="1" dirty="0"/>
              <a:t>Elemento</a:t>
            </a:r>
            <a:r>
              <a:rPr lang="es-ES" sz="3600" dirty="0"/>
              <a:t>: es un tipo de nodo (el más importante) ya que son los elementos </a:t>
            </a:r>
            <a:r>
              <a:rPr lang="es-ES" sz="3600" dirty="0" err="1"/>
              <a:t>html</a:t>
            </a:r>
            <a:endParaRPr lang="es-AR" sz="36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B29DB1C-4904-46C1-9392-FACFCFA34664}"/>
              </a:ext>
            </a:extLst>
          </p:cNvPr>
          <p:cNvSpPr/>
          <p:nvPr/>
        </p:nvSpPr>
        <p:spPr>
          <a:xfrm>
            <a:off x="708208" y="4053788"/>
            <a:ext cx="1077557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600" b="1" dirty="0"/>
              <a:t>Nodo</a:t>
            </a:r>
            <a:r>
              <a:rPr lang="es-ES" sz="3600" dirty="0"/>
              <a:t>: Cada espacio que forma una parte del documento se considera un nodo; </a:t>
            </a:r>
            <a:r>
              <a:rPr lang="es-ES" sz="3600" i="1" dirty="0"/>
              <a:t>todos los elementos son nodos, pero no todos los nodos son elementos</a:t>
            </a:r>
            <a:r>
              <a:rPr lang="es-ES" sz="3600" dirty="0"/>
              <a:t>.</a:t>
            </a:r>
            <a:endParaRPr lang="es-AR" sz="3600" dirty="0"/>
          </a:p>
        </p:txBody>
      </p:sp>
    </p:spTree>
    <p:extLst>
      <p:ext uri="{BB962C8B-B14F-4D97-AF65-F5344CB8AC3E}">
        <p14:creationId xmlns:p14="http://schemas.microsoft.com/office/powerpoint/2010/main" val="227547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es-ES" dirty="0"/>
              <a:t>Diapositiva de análisis de proyecto 2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478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400" dirty="0"/>
              <a:t>DOM y JavaScript</a:t>
            </a:r>
            <a:endParaRPr lang="es-E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ECC87D65-D1D6-4EF7-96DF-26D8ED2EDB28}"/>
              </a:ext>
            </a:extLst>
          </p:cNvPr>
          <p:cNvSpPr/>
          <p:nvPr/>
        </p:nvSpPr>
        <p:spPr>
          <a:xfrm>
            <a:off x="708209" y="1335900"/>
            <a:ext cx="1077557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s-ES" dirty="0"/>
            </a:br>
            <a:r>
              <a:rPr lang="es-ES" dirty="0"/>
              <a:t>En el comienzo, JavaScript y el DOM estaban herméticamente enlazados, pero después se desarrollaron como entidades separadas. </a:t>
            </a:r>
            <a:br>
              <a:rPr lang="es-ES" dirty="0"/>
            </a:br>
            <a:r>
              <a:rPr lang="es-ES" dirty="0"/>
              <a:t>El contenido de la página es almacenado en DOM y el acceso y la manipulación se hace vía JavaScript, u otros lenguajes, pero nosotros nos centraremos en </a:t>
            </a:r>
            <a:r>
              <a:rPr lang="es-ES" dirty="0" err="1"/>
              <a:t>js</a:t>
            </a:r>
            <a:r>
              <a:rPr lang="es-ES" dirty="0"/>
              <a:t>.</a:t>
            </a:r>
            <a:endParaRPr lang="es-AR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A9C4D93-2C07-422A-997D-1E004D484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947" y="3003065"/>
            <a:ext cx="7328870" cy="366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3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es-ES" dirty="0"/>
              <a:t>Diapositiva de análisis de proyecto 2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753846" y="401875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597" y="394199"/>
            <a:ext cx="11734800" cy="7478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400" dirty="0"/>
              <a:t>Objeto </a:t>
            </a:r>
            <a:r>
              <a:rPr lang="es-ES" sz="5400" dirty="0" err="1"/>
              <a:t>window</a:t>
            </a:r>
            <a:r>
              <a:rPr lang="es-ES" sz="5400" dirty="0"/>
              <a:t> y objeto </a:t>
            </a:r>
            <a:r>
              <a:rPr lang="es-ES" sz="5400" dirty="0" err="1"/>
              <a:t>document</a:t>
            </a:r>
            <a:endParaRPr lang="es-E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ECC87D65-D1D6-4EF7-96DF-26D8ED2EDB28}"/>
              </a:ext>
            </a:extLst>
          </p:cNvPr>
          <p:cNvSpPr/>
          <p:nvPr/>
        </p:nvSpPr>
        <p:spPr>
          <a:xfrm>
            <a:off x="708209" y="1335900"/>
            <a:ext cx="107755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s-ES" dirty="0"/>
            </a:br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614472A-FD87-4EA6-A403-04E219E43557}"/>
              </a:ext>
            </a:extLst>
          </p:cNvPr>
          <p:cNvSpPr/>
          <p:nvPr/>
        </p:nvSpPr>
        <p:spPr>
          <a:xfrm>
            <a:off x="4365812" y="2023454"/>
            <a:ext cx="62708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/>
              <a:t>Es el objeto global </a:t>
            </a:r>
            <a:r>
              <a:rPr lang="es-AR" sz="2400" dirty="0"/>
              <a:t>JavaScript en el navegador</a:t>
            </a:r>
            <a:r>
              <a:rPr lang="es-ES" sz="2400" dirty="0"/>
              <a:t>. </a:t>
            </a:r>
            <a:br>
              <a:rPr lang="es-ES" sz="2400" dirty="0"/>
            </a:br>
            <a:r>
              <a:rPr lang="es-ES" sz="2400" dirty="0" err="1"/>
              <a:t>window</a:t>
            </a:r>
            <a:r>
              <a:rPr lang="es-ES" sz="2400" dirty="0"/>
              <a:t> representa la </a:t>
            </a:r>
            <a:r>
              <a:rPr lang="es-ES" sz="2400" b="1" dirty="0"/>
              <a:t>ventana/pestaña del navegador</a:t>
            </a:r>
            <a:r>
              <a:rPr lang="es-ES" sz="2400" dirty="0"/>
              <a:t> en la que se está ejecutando JavaScript.  Tiene acceso completo</a:t>
            </a:r>
            <a:endParaRPr lang="es-AR" sz="24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941538A-869F-4760-9271-3C1D566D45FC}"/>
              </a:ext>
            </a:extLst>
          </p:cNvPr>
          <p:cNvSpPr/>
          <p:nvPr/>
        </p:nvSpPr>
        <p:spPr>
          <a:xfrm>
            <a:off x="1139917" y="2168746"/>
            <a:ext cx="22890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40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window</a:t>
            </a:r>
            <a:endParaRPr lang="es-AR" sz="3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919B56-9B4F-4662-A907-664BF5093D47}"/>
              </a:ext>
            </a:extLst>
          </p:cNvPr>
          <p:cNvSpPr/>
          <p:nvPr/>
        </p:nvSpPr>
        <p:spPr>
          <a:xfrm>
            <a:off x="1030941" y="4443249"/>
            <a:ext cx="239805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40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document</a:t>
            </a:r>
            <a:endParaRPr lang="es-AR" sz="3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7F1E424-93EA-4DA0-B4E7-B32657A8CE96}"/>
              </a:ext>
            </a:extLst>
          </p:cNvPr>
          <p:cNvSpPr/>
          <p:nvPr/>
        </p:nvSpPr>
        <p:spPr>
          <a:xfrm>
            <a:off x="4365812" y="4150860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sz="2400" dirty="0"/>
              <a:t>Es una propiedad del objeto global</a:t>
            </a:r>
            <a:br>
              <a:rPr lang="es-ES" sz="2400" dirty="0"/>
            </a:br>
            <a:r>
              <a:rPr lang="es-ES" sz="2400" dirty="0"/>
              <a:t>Es un objeto que representa la página web  (HTML) cargada en el navegador y sirve como el punto de entrada principal para interactuar con su contenido.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6222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es-ES" dirty="0"/>
              <a:t>Diapositiva de análisis de proyecto 2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753846" y="401875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597" y="456837"/>
            <a:ext cx="11734800" cy="7478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400" dirty="0"/>
              <a:t>Diferencia</a:t>
            </a:r>
            <a:endParaRPr lang="es-E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ECC87D65-D1D6-4EF7-96DF-26D8ED2EDB28}"/>
              </a:ext>
            </a:extLst>
          </p:cNvPr>
          <p:cNvSpPr/>
          <p:nvPr/>
        </p:nvSpPr>
        <p:spPr>
          <a:xfrm>
            <a:off x="708209" y="1335900"/>
            <a:ext cx="107755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s-ES" dirty="0"/>
            </a:br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614472A-FD87-4EA6-A403-04E219E43557}"/>
              </a:ext>
            </a:extLst>
          </p:cNvPr>
          <p:cNvSpPr/>
          <p:nvPr/>
        </p:nvSpPr>
        <p:spPr>
          <a:xfrm>
            <a:off x="4365812" y="2023454"/>
            <a:ext cx="62708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/>
              <a:t>representa el entorno global “completo” la ventana del navegador</a:t>
            </a:r>
            <a:endParaRPr lang="es-AR" sz="24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941538A-869F-4760-9271-3C1D566D45FC}"/>
              </a:ext>
            </a:extLst>
          </p:cNvPr>
          <p:cNvSpPr/>
          <p:nvPr/>
        </p:nvSpPr>
        <p:spPr>
          <a:xfrm>
            <a:off x="1139917" y="2168746"/>
            <a:ext cx="22890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40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window</a:t>
            </a:r>
            <a:endParaRPr lang="es-AR" sz="3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919B56-9B4F-4662-A907-664BF5093D47}"/>
              </a:ext>
            </a:extLst>
          </p:cNvPr>
          <p:cNvSpPr/>
          <p:nvPr/>
        </p:nvSpPr>
        <p:spPr>
          <a:xfrm>
            <a:off x="1030941" y="4443249"/>
            <a:ext cx="239805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40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document</a:t>
            </a:r>
            <a:endParaRPr lang="es-AR" sz="3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7F1E424-93EA-4DA0-B4E7-B32657A8CE96}"/>
              </a:ext>
            </a:extLst>
          </p:cNvPr>
          <p:cNvSpPr/>
          <p:nvPr/>
        </p:nvSpPr>
        <p:spPr>
          <a:xfrm>
            <a:off x="4365812" y="4150860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sz="2400" dirty="0"/>
              <a:t>representa el documento HTML dentro de ese entorno. Incluido CSS si esta esta enlazado. </a:t>
            </a:r>
          </a:p>
          <a:p>
            <a:r>
              <a:rPr lang="es-ES" sz="2400" dirty="0" err="1"/>
              <a:t>Document</a:t>
            </a:r>
            <a:r>
              <a:rPr lang="es-ES" sz="2400" dirty="0"/>
              <a:t> </a:t>
            </a:r>
            <a:r>
              <a:rPr lang="es-ES" sz="2400" dirty="0" err="1"/>
              <a:t>esuna</a:t>
            </a:r>
            <a:r>
              <a:rPr lang="es-ES" sz="2400" dirty="0"/>
              <a:t> propiedad del objeto </a:t>
            </a:r>
            <a:r>
              <a:rPr lang="es-ES" sz="2400" dirty="0" err="1"/>
              <a:t>window</a:t>
            </a:r>
            <a:r>
              <a:rPr lang="es-ES" sz="2400" dirty="0"/>
              <a:t> --</a:t>
            </a:r>
            <a:r>
              <a:rPr lang="es-ES" sz="2400" dirty="0">
                <a:sym typeface="Wingdings" panose="05000000000000000000" pitchFamily="2" charset="2"/>
              </a:rPr>
              <a:t>   </a:t>
            </a:r>
            <a:r>
              <a:rPr lang="es-ES" sz="2400" dirty="0" err="1">
                <a:sym typeface="Wingdings" panose="05000000000000000000" pitchFamily="2" charset="2"/>
              </a:rPr>
              <a:t>window.document</a:t>
            </a:r>
            <a:endParaRPr lang="es-AR" sz="2400" dirty="0"/>
          </a:p>
        </p:txBody>
      </p:sp>
      <p:sp>
        <p:nvSpPr>
          <p:cNvPr id="2" name="Distinto de 1">
            <a:extLst>
              <a:ext uri="{FF2B5EF4-FFF2-40B4-BE49-F238E27FC236}">
                <a16:creationId xmlns:a16="http://schemas.microsoft.com/office/drawing/2014/main" id="{9304E98D-E7DC-4B0B-93CB-4EB68A8D1DA0}"/>
              </a:ext>
            </a:extLst>
          </p:cNvPr>
          <p:cNvSpPr/>
          <p:nvPr/>
        </p:nvSpPr>
        <p:spPr>
          <a:xfrm>
            <a:off x="1474414" y="3383364"/>
            <a:ext cx="1279432" cy="707886"/>
          </a:xfrm>
          <a:prstGeom prst="mathNotEqual">
            <a:avLst/>
          </a:prstGeom>
          <a:solidFill>
            <a:srgbClr val="FBCC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4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3">
                <a:lumMod val="75000"/>
              </a:schemeClr>
            </a:gs>
            <a:gs pos="51000">
              <a:srgbClr val="0E2C3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Rombo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  <p:sp>
          <p:nvSpPr>
            <p:cNvPr id="13" name="Rombo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</p:grpSp>
      <p:sp>
        <p:nvSpPr>
          <p:cNvPr id="15" name="Título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75003"/>
            <a:ext cx="9144000" cy="1107996"/>
          </a:xfrm>
        </p:spPr>
        <p:txBody>
          <a:bodyPr lIns="0" tIns="0" rIns="0" bIns="0" rtlCol="0" anchor="ctr">
            <a:spAutoFit/>
          </a:bodyPr>
          <a:lstStyle/>
          <a:p>
            <a:pPr rtl="0"/>
            <a:r>
              <a:rPr lang="es-ES" sz="7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Veámoslo en código…</a:t>
            </a:r>
            <a:endParaRPr lang="es-ES" sz="7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3A010E1-0173-45C0-825D-796EA057167B}"/>
              </a:ext>
            </a:extLst>
          </p:cNvPr>
          <p:cNvSpPr txBox="1"/>
          <p:nvPr/>
        </p:nvSpPr>
        <p:spPr>
          <a:xfrm>
            <a:off x="7496629" y="5008792"/>
            <a:ext cx="3541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Documentacion</a:t>
            </a:r>
            <a:r>
              <a:rPr lang="es-ES" dirty="0"/>
              <a:t> Oficial:</a:t>
            </a:r>
            <a:br>
              <a:rPr lang="es-ES" dirty="0"/>
            </a:br>
            <a:r>
              <a:rPr lang="es-ES" dirty="0">
                <a:hlinkClick r:id="rId3"/>
              </a:rPr>
              <a:t>https://developer.mozilla.org/es/docs/Web/API/Document_Object_Model/Introduction</a:t>
            </a:r>
            <a:r>
              <a:rPr lang="es-ES" dirty="0"/>
              <a:t>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TM04033929[[fn=Pizarra]]</Template>
  <TotalTime>0</TotalTime>
  <Words>436</Words>
  <Application>Microsoft Office PowerPoint</Application>
  <PresentationFormat>Panorámica</PresentationFormat>
  <Paragraphs>64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Calibri</vt:lpstr>
      <vt:lpstr>Calisto MT</vt:lpstr>
      <vt:lpstr>Wingdings 2</vt:lpstr>
      <vt:lpstr>Pizarra</vt:lpstr>
      <vt:lpstr>DOM  Modelo de objeto de documento</vt:lpstr>
      <vt:lpstr>Diapositiva de análisis de proyecto 2</vt:lpstr>
      <vt:lpstr>Presentación de PowerPoint</vt:lpstr>
      <vt:lpstr>Diapositiva de análisis de proyecto 2</vt:lpstr>
      <vt:lpstr>Diapositiva de análisis de proyecto 2</vt:lpstr>
      <vt:lpstr>Diapositiva de análisis de proyecto 8</vt:lpstr>
      <vt:lpstr>Diapositiva de análisis de proyecto 11</vt:lpstr>
      <vt:lpstr>Diapositiva de análisis de proyecto 2</vt:lpstr>
      <vt:lpstr>Diapositiva de análisis de proyecto 2</vt:lpstr>
      <vt:lpstr>Diapositiva de análisis de proyecto 2</vt:lpstr>
      <vt:lpstr>Veámoslo en código…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2025-10-13T19:38:19Z</dcterms:created>
  <dcterms:modified xsi:type="dcterms:W3CDTF">2026-09-10T13:49:57Z</dcterms:modified>
</cp:coreProperties>
</file>