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74" r:id="rId11"/>
    <p:sldId id="273" r:id="rId12"/>
    <p:sldId id="264" r:id="rId13"/>
    <p:sldId id="266" r:id="rId14"/>
    <p:sldId id="267" r:id="rId15"/>
    <p:sldId id="269" r:id="rId16"/>
    <p:sldId id="268" r:id="rId17"/>
    <p:sldId id="270" r:id="rId18"/>
    <p:sldId id="276" r:id="rId19"/>
    <p:sldId id="275" r:id="rId20"/>
    <p:sldId id="277" r:id="rId21"/>
    <p:sldId id="271" r:id="rId22"/>
    <p:sldId id="279" r:id="rId23"/>
    <p:sldId id="278" r:id="rId24"/>
    <p:sldId id="281" r:id="rId25"/>
    <p:sldId id="280" r:id="rId26"/>
    <p:sldId id="282" r:id="rId27"/>
    <p:sldId id="27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7DF1E"/>
    <a:srgbClr val="CC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s/docs/Web/JavaScript/Guide/Expressions_and_operator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Web/JavaScrip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FCF07-3019-420E-87E8-FF5EBF1B6D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JavaScript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69BE7-D3F4-400E-A0DA-D3944C1C2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Características de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AA72E5-3865-42FB-8AA9-23E17112E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459" y="1585757"/>
            <a:ext cx="2690620" cy="26294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0716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B6084-639F-4881-9111-96F81AEA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Concepto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E66CF-5AFA-4CB8-934A-5E2272EA8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836" y="1488983"/>
            <a:ext cx="10349753" cy="2370324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11200" b="1" dirty="0"/>
              <a:t>JavaScript </a:t>
            </a:r>
            <a:r>
              <a:rPr lang="es-ES" sz="6400" b="1" dirty="0"/>
              <a:t> </a:t>
            </a:r>
            <a:r>
              <a:rPr lang="es-ES" sz="8800" b="1" dirty="0"/>
              <a:t>es un lenguaje de programación </a:t>
            </a:r>
            <a:r>
              <a:rPr lang="es-ES" sz="8800" b="1" dirty="0">
                <a:solidFill>
                  <a:srgbClr val="F7DF1E"/>
                </a:solidFill>
              </a:rPr>
              <a:t> interpretado,</a:t>
            </a:r>
            <a:r>
              <a:rPr lang="es-ES" sz="8800" b="1" dirty="0"/>
              <a:t> de </a:t>
            </a:r>
            <a:r>
              <a:rPr lang="es-AR" sz="8800" b="1" dirty="0">
                <a:solidFill>
                  <a:srgbClr val="F7DF1E"/>
                </a:solidFill>
              </a:rPr>
              <a:t>tipado dinámico</a:t>
            </a:r>
            <a:r>
              <a:rPr lang="es-ES" sz="8800" b="1" dirty="0"/>
              <a:t>, y soporta la </a:t>
            </a:r>
            <a:r>
              <a:rPr lang="es-ES" sz="8800" b="1" dirty="0">
                <a:solidFill>
                  <a:srgbClr val="F7DF1E"/>
                </a:solidFill>
              </a:rPr>
              <a:t>programación orientado a objetos</a:t>
            </a:r>
            <a:r>
              <a:rPr lang="es-ES" sz="8800" b="1" dirty="0"/>
              <a:t>.  Y es </a:t>
            </a:r>
            <a:r>
              <a:rPr lang="es-AR" sz="8800" b="1" dirty="0"/>
              <a:t>Versátil ya que se usa para el desarrollo del </a:t>
            </a:r>
            <a:r>
              <a:rPr lang="es-AR" sz="8800" b="1" dirty="0" err="1"/>
              <a:t>backend</a:t>
            </a:r>
            <a:r>
              <a:rPr lang="es-AR" sz="8800" b="1" dirty="0"/>
              <a:t> y </a:t>
            </a:r>
            <a:r>
              <a:rPr lang="es-AR" sz="8800" b="1" dirty="0" err="1"/>
              <a:t>fronted</a:t>
            </a:r>
            <a:r>
              <a:rPr lang="es-AR" sz="8800" b="1" dirty="0"/>
              <a:t>. Y es de un lenguaje de </a:t>
            </a:r>
            <a:r>
              <a:rPr lang="es-AR" sz="8800" b="1" dirty="0">
                <a:solidFill>
                  <a:srgbClr val="F7DF1E"/>
                </a:solidFill>
              </a:rPr>
              <a:t>alto nivel.</a:t>
            </a:r>
            <a:br>
              <a:rPr lang="es-ES" b="1" dirty="0"/>
            </a:br>
            <a:endParaRPr lang="es-ES" b="1" dirty="0"/>
          </a:p>
          <a:p>
            <a:endParaRPr lang="es-ES" b="1" dirty="0"/>
          </a:p>
          <a:p>
            <a:endParaRPr lang="es-AR" dirty="0"/>
          </a:p>
          <a:p>
            <a:endParaRPr lang="es-ES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749745A-F696-4BA6-BA39-7BBCCA59D606}"/>
              </a:ext>
            </a:extLst>
          </p:cNvPr>
          <p:cNvSpPr txBox="1">
            <a:spLocks/>
          </p:cNvSpPr>
          <p:nvPr/>
        </p:nvSpPr>
        <p:spPr>
          <a:xfrm>
            <a:off x="1004047" y="3429000"/>
            <a:ext cx="10465117" cy="3227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</a:pPr>
            <a:r>
              <a:rPr lang="es-ES" sz="2200" b="1" dirty="0"/>
              <a:t>Un lenguaje </a:t>
            </a:r>
            <a:r>
              <a:rPr lang="es-ES" sz="2200" b="1" dirty="0">
                <a:solidFill>
                  <a:srgbClr val="F7DF1E"/>
                </a:solidFill>
              </a:rPr>
              <a:t>interpretado</a:t>
            </a:r>
            <a:r>
              <a:rPr lang="es-ES" sz="2200" b="1" dirty="0"/>
              <a:t> es aquel que no necesita ser compilado previamente a código máquina antes de ejecutarse.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chemeClr val="tx2"/>
              </a:buClr>
            </a:pPr>
            <a:r>
              <a:rPr lang="es-ES" sz="2200" b="1" dirty="0"/>
              <a:t>Es  </a:t>
            </a:r>
            <a:r>
              <a:rPr lang="es-ES" sz="2200" b="1" dirty="0">
                <a:solidFill>
                  <a:srgbClr val="F7DF1E"/>
                </a:solidFill>
              </a:rPr>
              <a:t>Tipado</a:t>
            </a:r>
            <a:r>
              <a:rPr lang="es-ES" sz="2200" b="1" dirty="0"/>
              <a:t> </a:t>
            </a:r>
            <a:r>
              <a:rPr lang="es-ES" sz="2200" b="1" dirty="0">
                <a:solidFill>
                  <a:srgbClr val="F7DF1E"/>
                </a:solidFill>
              </a:rPr>
              <a:t>Dinámico</a:t>
            </a:r>
            <a:r>
              <a:rPr lang="es-ES" sz="2200" b="1" dirty="0"/>
              <a:t> porque las variables pueden cambiar de tipo en tiempo de ejecución; y el tipo no necesita declararse explícitamente al crear una variable.</a:t>
            </a:r>
          </a:p>
          <a:p>
            <a:pPr>
              <a:buClr>
                <a:schemeClr val="tx2"/>
              </a:buClr>
            </a:pPr>
            <a:r>
              <a:rPr lang="es-ES" sz="2200" b="1" dirty="0"/>
              <a:t>Tiene soporte para la </a:t>
            </a:r>
            <a:r>
              <a:rPr lang="es-ES" sz="2200" b="1" dirty="0">
                <a:solidFill>
                  <a:srgbClr val="F7DF1E"/>
                </a:solidFill>
              </a:rPr>
              <a:t>POO</a:t>
            </a:r>
            <a:r>
              <a:rPr lang="es-ES" sz="2200" b="1" dirty="0"/>
              <a:t> es decir permite crear clase y objeto.</a:t>
            </a:r>
          </a:p>
          <a:p>
            <a:pPr>
              <a:buClr>
                <a:schemeClr val="tx2"/>
              </a:buClr>
            </a:pPr>
            <a:r>
              <a:rPr lang="es-ES" sz="2200" b="1" dirty="0"/>
              <a:t> Esta integrado en todos los navegadores actuales.</a:t>
            </a:r>
            <a:br>
              <a:rPr lang="es-ES" sz="2000" b="1" dirty="0"/>
            </a:br>
            <a:endParaRPr lang="es-AR" sz="2000" dirty="0"/>
          </a:p>
          <a:p>
            <a:endParaRPr lang="es-AR" sz="2000" dirty="0"/>
          </a:p>
          <a:p>
            <a:endParaRPr lang="es-ES" sz="2000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51D296B-8F1F-407E-AEEF-5C17A77A4DA7}"/>
              </a:ext>
            </a:extLst>
          </p:cNvPr>
          <p:cNvCxnSpPr>
            <a:cxnSpLocks/>
          </p:cNvCxnSpPr>
          <p:nvPr/>
        </p:nvCxnSpPr>
        <p:spPr>
          <a:xfrm>
            <a:off x="722836" y="3429000"/>
            <a:ext cx="10349754" cy="0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95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B6084-639F-4881-9111-96F81AEA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E66CF-5AFA-4CB8-934A-5E2272EA8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423" y="1690689"/>
            <a:ext cx="10515600" cy="3204040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6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s-ES" sz="8800" b="1" dirty="0"/>
              <a:t>En JavaScript </a:t>
            </a:r>
            <a:r>
              <a:rPr lang="es-ES" sz="8800" b="1" dirty="0">
                <a:solidFill>
                  <a:srgbClr val="F7DF1E"/>
                </a:solidFill>
              </a:rPr>
              <a:t>tipado</a:t>
            </a:r>
            <a:r>
              <a:rPr lang="es-ES" sz="8800" b="1" dirty="0"/>
              <a:t> </a:t>
            </a:r>
            <a:r>
              <a:rPr lang="es-ES" sz="8800" b="1" dirty="0">
                <a:solidFill>
                  <a:srgbClr val="F7DF1E"/>
                </a:solidFill>
              </a:rPr>
              <a:t>dinámico </a:t>
            </a:r>
            <a:r>
              <a:rPr lang="es-ES" sz="8800" b="1" dirty="0">
                <a:solidFill>
                  <a:schemeClr val="tx1">
                    <a:lumMod val="95000"/>
                  </a:schemeClr>
                </a:solidFill>
              </a:rPr>
              <a:t>es que u</a:t>
            </a:r>
            <a:r>
              <a:rPr lang="es-ES" sz="8800" b="1" dirty="0"/>
              <a:t>na variable puede cambiar de tipo de dato en tiempo de ejecución del programa</a:t>
            </a:r>
            <a:br>
              <a:rPr lang="es-ES" b="1" dirty="0"/>
            </a:br>
            <a:endParaRPr lang="es-AR" dirty="0"/>
          </a:p>
          <a:p>
            <a:endParaRPr lang="es-AR" dirty="0"/>
          </a:p>
          <a:p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B8A3D87-3938-460E-A9E1-2FED0D3482A5}"/>
              </a:ext>
            </a:extLst>
          </p:cNvPr>
          <p:cNvSpPr txBox="1">
            <a:spLocks/>
          </p:cNvSpPr>
          <p:nvPr/>
        </p:nvSpPr>
        <p:spPr>
          <a:xfrm>
            <a:off x="4796118" y="3778624"/>
            <a:ext cx="6383459" cy="27142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es-ES" b="1" dirty="0" err="1"/>
              <a:t>let</a:t>
            </a:r>
            <a:r>
              <a:rPr lang="es-ES" b="1" dirty="0"/>
              <a:t> a = 5;        </a:t>
            </a:r>
            <a:r>
              <a:rPr lang="es-ES" dirty="0"/>
              <a:t>// a es un número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s-ES" b="1" dirty="0" err="1"/>
              <a:t>let</a:t>
            </a:r>
            <a:r>
              <a:rPr lang="es-ES" b="1" dirty="0"/>
              <a:t> b = "Hola";     </a:t>
            </a:r>
            <a:r>
              <a:rPr lang="es-ES" dirty="0"/>
              <a:t>//  b es un </a:t>
            </a:r>
            <a:r>
              <a:rPr lang="es-ES" dirty="0" err="1"/>
              <a:t>string</a:t>
            </a:r>
            <a:endParaRPr lang="es-ES" dirty="0"/>
          </a:p>
          <a:p>
            <a:pPr marL="0" indent="0">
              <a:lnSpc>
                <a:spcPct val="170000"/>
              </a:lnSpc>
              <a:buNone/>
            </a:pPr>
            <a:r>
              <a:rPr lang="es-ES" b="1" dirty="0"/>
              <a:t> a = " cinco";        </a:t>
            </a:r>
            <a:r>
              <a:rPr lang="es-ES" dirty="0"/>
              <a:t>// a es ahora  un es un </a:t>
            </a:r>
            <a:r>
              <a:rPr lang="es-ES" dirty="0" err="1"/>
              <a:t>string</a:t>
            </a:r>
            <a:br>
              <a:rPr lang="es-ES" sz="1600" b="1" dirty="0"/>
            </a:br>
            <a:endParaRPr lang="es-AR" sz="1600" dirty="0"/>
          </a:p>
          <a:p>
            <a:endParaRPr lang="es-AR" sz="800" dirty="0"/>
          </a:p>
          <a:p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315641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B6084-639F-4881-9111-96F81AEA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Declaraciones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E66CF-5AFA-4CB8-934A-5E2272EA8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En JS podemos declarar variables usando:</a:t>
            </a:r>
          </a:p>
          <a:p>
            <a:endParaRPr lang="es-AR" b="1" dirty="0"/>
          </a:p>
          <a:p>
            <a:r>
              <a:rPr lang="es-AR" b="1" dirty="0"/>
              <a:t>    </a:t>
            </a:r>
            <a:r>
              <a:rPr lang="es-AR" sz="4000" b="1" dirty="0" err="1"/>
              <a:t>let</a:t>
            </a:r>
            <a:r>
              <a:rPr lang="es-AR" sz="4000" b="1" dirty="0"/>
              <a:t> </a:t>
            </a:r>
            <a:r>
              <a:rPr lang="es-AR" b="1" dirty="0"/>
              <a:t> permite reasignar el valor (recomendado).</a:t>
            </a:r>
          </a:p>
          <a:p>
            <a:endParaRPr lang="es-AR" b="1" dirty="0"/>
          </a:p>
          <a:p>
            <a:r>
              <a:rPr lang="es-AR" b="1" dirty="0"/>
              <a:t>    </a:t>
            </a:r>
            <a:r>
              <a:rPr lang="es-AR" sz="4000" b="1" dirty="0" err="1"/>
              <a:t>const</a:t>
            </a:r>
            <a:r>
              <a:rPr lang="es-AR" b="1" dirty="0"/>
              <a:t>  no permite reasignar (para valores constantes).</a:t>
            </a:r>
          </a:p>
          <a:p>
            <a:endParaRPr lang="es-AR" b="1" dirty="0"/>
          </a:p>
          <a:p>
            <a:r>
              <a:rPr lang="es-AR" b="1" dirty="0"/>
              <a:t>    </a:t>
            </a:r>
            <a:r>
              <a:rPr lang="es-AR" sz="4000" b="1" dirty="0" err="1">
                <a:solidFill>
                  <a:srgbClr val="800000"/>
                </a:solidFill>
              </a:rPr>
              <a:t>var</a:t>
            </a:r>
            <a:r>
              <a:rPr lang="es-AR" sz="4000" b="1" dirty="0">
                <a:solidFill>
                  <a:srgbClr val="800000"/>
                </a:solidFill>
              </a:rPr>
              <a:t> </a:t>
            </a:r>
            <a:r>
              <a:rPr lang="es-AR" b="1" dirty="0">
                <a:solidFill>
                  <a:srgbClr val="800000"/>
                </a:solidFill>
              </a:rPr>
              <a:t> antigua forma (deprecada).</a:t>
            </a:r>
          </a:p>
        </p:txBody>
      </p:sp>
    </p:spTree>
    <p:extLst>
      <p:ext uri="{BB962C8B-B14F-4D97-AF65-F5344CB8AC3E}">
        <p14:creationId xmlns:p14="http://schemas.microsoft.com/office/powerpoint/2010/main" val="1920609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B6084-639F-4881-9111-96F81AEA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Declaraciones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E66CF-5AFA-4CB8-934A-5E2272EA8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422338"/>
            <a:ext cx="10233800" cy="4351338"/>
          </a:xfrm>
        </p:spPr>
        <p:txBody>
          <a:bodyPr/>
          <a:lstStyle/>
          <a:p>
            <a:r>
              <a:rPr lang="es-ES" b="1" dirty="0" err="1"/>
              <a:t>let</a:t>
            </a:r>
            <a:r>
              <a:rPr lang="es-ES" b="1" dirty="0"/>
              <a:t> x = 5;        // variable que puede cambiar de valor</a:t>
            </a:r>
          </a:p>
          <a:p>
            <a:r>
              <a:rPr lang="es-ES" b="1" dirty="0" err="1"/>
              <a:t>const</a:t>
            </a:r>
            <a:r>
              <a:rPr lang="es-ES" b="1" dirty="0"/>
              <a:t> pi = 3.14;  // constante (no puede cambiar su valor)</a:t>
            </a:r>
          </a:p>
          <a:p>
            <a:endParaRPr lang="es-ES" b="1" dirty="0"/>
          </a:p>
          <a:p>
            <a:pPr marL="0" indent="0">
              <a:buNone/>
            </a:pPr>
            <a:r>
              <a:rPr lang="es-ES" b="1" dirty="0"/>
              <a:t> x = 10; // será valido</a:t>
            </a:r>
          </a:p>
          <a:p>
            <a:pPr marL="0" indent="0">
              <a:buNone/>
            </a:pPr>
            <a:r>
              <a:rPr lang="es-AR" b="1" dirty="0"/>
              <a:t> pi = 5; //no será valido</a:t>
            </a:r>
          </a:p>
        </p:txBody>
      </p:sp>
    </p:spTree>
    <p:extLst>
      <p:ext uri="{BB962C8B-B14F-4D97-AF65-F5344CB8AC3E}">
        <p14:creationId xmlns:p14="http://schemas.microsoft.com/office/powerpoint/2010/main" val="8833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B745B-83BB-4035-B9FF-0FB11BFB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Declaraciones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756AFE-3898-4646-9B38-71B565AD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/>
              <a:t>Veamos entonces los valores según los tipos que toma: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 err="1"/>
              <a:t>let</a:t>
            </a:r>
            <a:r>
              <a:rPr lang="es-ES" b="1" dirty="0"/>
              <a:t> nombre = "Juan";</a:t>
            </a:r>
          </a:p>
          <a:p>
            <a:pPr marL="0" indent="0">
              <a:buNone/>
            </a:pPr>
            <a:r>
              <a:rPr lang="es-ES" b="1" dirty="0" err="1"/>
              <a:t>let</a:t>
            </a:r>
            <a:r>
              <a:rPr lang="es-ES" b="1" dirty="0"/>
              <a:t> saludo = 'Hola';  //</a:t>
            </a:r>
            <a:r>
              <a:rPr lang="es-ES" b="1" dirty="0" err="1">
                <a:solidFill>
                  <a:srgbClr val="F7DF1E"/>
                </a:solidFill>
              </a:rPr>
              <a:t>string</a:t>
            </a:r>
            <a:r>
              <a:rPr lang="es-ES" b="1" dirty="0"/>
              <a:t> también se pueden usar comillas simples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AR" b="1" dirty="0" err="1"/>
              <a:t>let</a:t>
            </a:r>
            <a:r>
              <a:rPr lang="es-AR" b="1" dirty="0"/>
              <a:t> edad = 30;         // </a:t>
            </a:r>
            <a:r>
              <a:rPr lang="es-AR" b="1" dirty="0" err="1">
                <a:solidFill>
                  <a:srgbClr val="F7DF1E"/>
                </a:solidFill>
              </a:rPr>
              <a:t>number</a:t>
            </a:r>
            <a:r>
              <a:rPr lang="es-AR" b="1" dirty="0"/>
              <a:t> número entero </a:t>
            </a:r>
          </a:p>
          <a:p>
            <a:pPr marL="0" indent="0">
              <a:buNone/>
            </a:pPr>
            <a:r>
              <a:rPr lang="es-AR" b="1" dirty="0" err="1"/>
              <a:t>let</a:t>
            </a:r>
            <a:r>
              <a:rPr lang="es-AR" b="1" dirty="0"/>
              <a:t> altura = 1.75;     // </a:t>
            </a:r>
            <a:r>
              <a:rPr lang="es-AR" b="1" dirty="0" err="1">
                <a:solidFill>
                  <a:srgbClr val="F7DF1E"/>
                </a:solidFill>
              </a:rPr>
              <a:t>number</a:t>
            </a:r>
            <a:r>
              <a:rPr lang="es-AR" b="1" dirty="0">
                <a:solidFill>
                  <a:srgbClr val="F7DF1E"/>
                </a:solidFill>
              </a:rPr>
              <a:t> </a:t>
            </a:r>
            <a:r>
              <a:rPr lang="es-AR" b="1" dirty="0"/>
              <a:t>número decimal</a:t>
            </a:r>
          </a:p>
          <a:p>
            <a:pPr marL="0" indent="0">
              <a:buNone/>
            </a:pPr>
            <a:endParaRPr lang="es-AR" b="1" dirty="0"/>
          </a:p>
          <a:p>
            <a:pPr marL="0" indent="0">
              <a:buNone/>
            </a:pPr>
            <a:r>
              <a:rPr lang="en-US" b="1" dirty="0"/>
              <a:t>let </a:t>
            </a:r>
            <a:r>
              <a:rPr lang="en-US" b="1" dirty="0" err="1"/>
              <a:t>esMayor</a:t>
            </a:r>
            <a:r>
              <a:rPr lang="en-US" b="1" dirty="0"/>
              <a:t> = true;    //</a:t>
            </a:r>
            <a:r>
              <a:rPr lang="es-AR" b="1" dirty="0">
                <a:solidFill>
                  <a:srgbClr val="F7DF1E"/>
                </a:solidFill>
              </a:rPr>
              <a:t> </a:t>
            </a:r>
            <a:r>
              <a:rPr lang="es-AR" b="1" dirty="0" err="1">
                <a:solidFill>
                  <a:srgbClr val="F7DF1E"/>
                </a:solidFill>
              </a:rPr>
              <a:t>boolean</a:t>
            </a:r>
            <a:r>
              <a:rPr lang="en-US" b="1" dirty="0"/>
              <a:t> </a:t>
            </a:r>
            <a:r>
              <a:rPr lang="en-US" b="1" dirty="0" err="1"/>
              <a:t>buleanos</a:t>
            </a:r>
            <a:r>
              <a:rPr lang="en-US" b="1" dirty="0"/>
              <a:t> o </a:t>
            </a:r>
            <a:r>
              <a:rPr lang="en-US" b="1" dirty="0" err="1"/>
              <a:t>lógicos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let </a:t>
            </a:r>
            <a:r>
              <a:rPr lang="en-US" b="1" dirty="0" err="1"/>
              <a:t>tienePermiso</a:t>
            </a:r>
            <a:r>
              <a:rPr lang="en-US" b="1" dirty="0"/>
              <a:t> = false;</a:t>
            </a:r>
            <a:endParaRPr lang="es-AR" b="1" dirty="0"/>
          </a:p>
          <a:p>
            <a:pPr marL="0" indent="0">
              <a:buNone/>
            </a:pP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56130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B745B-83BB-4035-B9FF-0FB11BFB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Declaraciones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756AFE-3898-4646-9B38-71B565AD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Algunos valores especiales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 err="1"/>
              <a:t>let</a:t>
            </a:r>
            <a:r>
              <a:rPr lang="es-ES" b="1" dirty="0"/>
              <a:t> apellido;  // no se asigno ningún valor</a:t>
            </a:r>
          </a:p>
          <a:p>
            <a:pPr marL="0" indent="0">
              <a:buNone/>
            </a:pPr>
            <a:r>
              <a:rPr lang="es-ES" b="1" dirty="0"/>
              <a:t>console.log(apellido); // </a:t>
            </a:r>
            <a:r>
              <a:rPr lang="es-ES" b="1" dirty="0" err="1"/>
              <a:t>undefined</a:t>
            </a:r>
            <a:endParaRPr lang="es-ES" b="1" dirty="0"/>
          </a:p>
          <a:p>
            <a:pPr marL="0" indent="0">
              <a:buNone/>
            </a:pPr>
            <a:endParaRPr lang="es-AR" b="1" dirty="0"/>
          </a:p>
          <a:p>
            <a:pPr marL="0" indent="0">
              <a:buNone/>
            </a:pPr>
            <a:r>
              <a:rPr lang="es-AR" b="1" dirty="0" err="1"/>
              <a:t>let</a:t>
            </a:r>
            <a:r>
              <a:rPr lang="es-AR" b="1" dirty="0"/>
              <a:t> </a:t>
            </a:r>
            <a:r>
              <a:rPr lang="es-AR" b="1" dirty="0" err="1"/>
              <a:t>direccion</a:t>
            </a:r>
            <a:r>
              <a:rPr lang="es-AR" b="1" dirty="0"/>
              <a:t> = </a:t>
            </a:r>
            <a:r>
              <a:rPr lang="es-AR" b="1" dirty="0" err="1"/>
              <a:t>null</a:t>
            </a:r>
            <a:r>
              <a:rPr lang="es-AR" b="1" dirty="0"/>
              <a:t>; </a:t>
            </a:r>
          </a:p>
          <a:p>
            <a:pPr marL="0" indent="0">
              <a:buNone/>
            </a:pPr>
            <a:endParaRPr lang="es-AR" b="1" dirty="0"/>
          </a:p>
          <a:p>
            <a:pPr marL="0" indent="0">
              <a:buNone/>
            </a:pPr>
            <a:r>
              <a:rPr lang="es-AR" b="1" dirty="0"/>
              <a:t>Nota: mas adelante veremos diferencias entre  </a:t>
            </a:r>
            <a:r>
              <a:rPr lang="es-AR" b="1" dirty="0" err="1"/>
              <a:t>undefined</a:t>
            </a:r>
            <a:r>
              <a:rPr lang="es-AR" b="1" dirty="0"/>
              <a:t> y </a:t>
            </a:r>
            <a:r>
              <a:rPr lang="es-AR" b="1" dirty="0" err="1"/>
              <a:t>null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421654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5419F-82D7-4599-9D5D-C905FEB1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Declaraciones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DA08A-3CA0-4DB1-85D0-27DA32F74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ARREGLO, LISTA </a:t>
            </a:r>
          </a:p>
          <a:p>
            <a:pPr marL="0" indent="0">
              <a:buNone/>
            </a:pPr>
            <a:r>
              <a:rPr lang="es-ES" b="1" dirty="0" err="1"/>
              <a:t>let</a:t>
            </a:r>
            <a:r>
              <a:rPr lang="es-ES" b="1" dirty="0"/>
              <a:t> frutas = ["manzana", "banana", "pera"];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Objeto (llave valor)</a:t>
            </a:r>
          </a:p>
          <a:p>
            <a:pPr marL="0" indent="0">
              <a:buNone/>
            </a:pPr>
            <a:r>
              <a:rPr lang="es-ES" b="1" dirty="0" err="1"/>
              <a:t>let</a:t>
            </a:r>
            <a:r>
              <a:rPr lang="es-ES" b="1" dirty="0"/>
              <a:t> persona = {</a:t>
            </a:r>
          </a:p>
          <a:p>
            <a:pPr marL="0" indent="0">
              <a:buNone/>
            </a:pPr>
            <a:r>
              <a:rPr lang="es-ES" b="1" dirty="0"/>
              <a:t>  nombre: "Ana",</a:t>
            </a:r>
          </a:p>
          <a:p>
            <a:pPr marL="0" indent="0">
              <a:buNone/>
            </a:pPr>
            <a:r>
              <a:rPr lang="es-ES" b="1" dirty="0"/>
              <a:t>  edad: 25</a:t>
            </a:r>
          </a:p>
          <a:p>
            <a:pPr marL="0" indent="0">
              <a:buNone/>
            </a:pPr>
            <a:r>
              <a:rPr lang="es-ES" b="1" dirty="0"/>
              <a:t>};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868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58ED-B025-40C9-8B4F-359472E1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Tipos de Datos</a:t>
            </a:r>
            <a:endParaRPr lang="es-A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4FDB7B-6008-4266-8AD9-A5126FF34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293125"/>
            <a:ext cx="10233800" cy="4351338"/>
          </a:xfrm>
        </p:spPr>
        <p:txBody>
          <a:bodyPr>
            <a:normAutofit fontScale="92500"/>
          </a:bodyPr>
          <a:lstStyle/>
          <a:p>
            <a:r>
              <a:rPr lang="es-AR" b="1" dirty="0" err="1">
                <a:solidFill>
                  <a:srgbClr val="FFCC00"/>
                </a:solidFill>
              </a:rPr>
              <a:t>String</a:t>
            </a:r>
            <a:r>
              <a:rPr lang="es-AR" dirty="0"/>
              <a:t>: Cadenas de caracteres utilizadas para texto </a:t>
            </a:r>
            <a:br>
              <a:rPr lang="es-AR" dirty="0"/>
            </a:br>
            <a:r>
              <a:rPr lang="es-AR" dirty="0"/>
              <a:t>	</a:t>
            </a:r>
            <a:r>
              <a:rPr lang="es-AR" dirty="0" err="1"/>
              <a:t>let</a:t>
            </a:r>
            <a:r>
              <a:rPr lang="es-AR" dirty="0"/>
              <a:t> nombre = "Carlos";     // </a:t>
            </a:r>
            <a:r>
              <a:rPr lang="es-AR" dirty="0" err="1"/>
              <a:t>string</a:t>
            </a:r>
            <a:endParaRPr lang="es-AR" dirty="0"/>
          </a:p>
          <a:p>
            <a:r>
              <a:rPr lang="es-AR" dirty="0">
                <a:solidFill>
                  <a:srgbClr val="FFCC00"/>
                </a:solidFill>
              </a:rPr>
              <a:t> </a:t>
            </a:r>
            <a:r>
              <a:rPr lang="es-AR" b="1" dirty="0" err="1">
                <a:solidFill>
                  <a:srgbClr val="FFCC00"/>
                </a:solidFill>
              </a:rPr>
              <a:t>Number</a:t>
            </a:r>
            <a:r>
              <a:rPr lang="es-A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es-AR" dirty="0">
                <a:solidFill>
                  <a:schemeClr val="tx1">
                    <a:lumMod val="95000"/>
                  </a:schemeClr>
                </a:solidFill>
              </a:rPr>
              <a:t>Representa tanto números   enteros como de punto          	</a:t>
            </a:r>
            <a:r>
              <a:rPr lang="es-AR" dirty="0" err="1">
                <a:solidFill>
                  <a:schemeClr val="tx1">
                    <a:lumMod val="95000"/>
                  </a:schemeClr>
                </a:solidFill>
              </a:rPr>
              <a:t>flotant</a:t>
            </a:r>
            <a:r>
              <a:rPr lang="es-AR" dirty="0">
                <a:solidFill>
                  <a:schemeClr val="tx1">
                    <a:lumMod val="95000"/>
                  </a:schemeClr>
                </a:solidFill>
              </a:rPr>
              <a:t>.  </a:t>
            </a:r>
            <a:r>
              <a:rPr lang="es-AR" dirty="0" err="1">
                <a:solidFill>
                  <a:schemeClr val="tx1">
                    <a:lumMod val="95000"/>
                  </a:schemeClr>
                </a:solidFill>
              </a:rPr>
              <a:t>let</a:t>
            </a:r>
            <a:r>
              <a:rPr lang="es-AR" dirty="0">
                <a:solidFill>
                  <a:schemeClr val="tx1">
                    <a:lumMod val="95000"/>
                  </a:schemeClr>
                </a:solidFill>
              </a:rPr>
              <a:t> edad = 28;      </a:t>
            </a:r>
            <a:r>
              <a:rPr lang="es-AR" dirty="0" err="1">
                <a:solidFill>
                  <a:schemeClr val="tx1">
                    <a:lumMod val="95000"/>
                  </a:schemeClr>
                </a:solidFill>
              </a:rPr>
              <a:t>let</a:t>
            </a:r>
            <a:r>
              <a:rPr lang="es-AR" dirty="0">
                <a:solidFill>
                  <a:schemeClr val="tx1">
                    <a:lumMod val="95000"/>
                  </a:schemeClr>
                </a:solidFill>
              </a:rPr>
              <a:t> peso = 68.5; </a:t>
            </a:r>
          </a:p>
          <a:p>
            <a:r>
              <a:rPr lang="es-ES" b="1" dirty="0" err="1">
                <a:solidFill>
                  <a:srgbClr val="FFCC00"/>
                </a:solidFill>
              </a:rPr>
              <a:t>Boolean</a:t>
            </a:r>
            <a:r>
              <a:rPr lang="es-ES" dirty="0"/>
              <a:t>: Representa un valor lógico, ya sea true(verdadero o   false(falso)        </a:t>
            </a:r>
            <a:r>
              <a:rPr lang="es-AR" dirty="0" err="1"/>
              <a:t>let</a:t>
            </a:r>
            <a:r>
              <a:rPr lang="es-AR" dirty="0"/>
              <a:t> </a:t>
            </a:r>
            <a:r>
              <a:rPr lang="es-AR" dirty="0" err="1"/>
              <a:t>esCliente</a:t>
            </a:r>
            <a:r>
              <a:rPr lang="es-AR" dirty="0"/>
              <a:t> = true;      // </a:t>
            </a:r>
            <a:r>
              <a:rPr lang="es-AR" dirty="0" err="1"/>
              <a:t>boolean</a:t>
            </a:r>
            <a:endParaRPr lang="es-AR" dirty="0"/>
          </a:p>
          <a:p>
            <a:r>
              <a:rPr lang="es-ES" b="1" dirty="0" err="1">
                <a:solidFill>
                  <a:srgbClr val="FFCC00"/>
                </a:solidFill>
              </a:rPr>
              <a:t>Null</a:t>
            </a:r>
            <a:r>
              <a:rPr lang="es-ES" dirty="0"/>
              <a:t>: Representa la ausencia intencional de cualquier valor de objeto. </a:t>
            </a:r>
            <a:r>
              <a:rPr lang="es-AR" dirty="0" err="1"/>
              <a:t>let</a:t>
            </a:r>
            <a:r>
              <a:rPr lang="es-AR" dirty="0"/>
              <a:t> producto = </a:t>
            </a:r>
            <a:r>
              <a:rPr lang="es-AR" dirty="0" err="1"/>
              <a:t>null</a:t>
            </a:r>
            <a:r>
              <a:rPr lang="es-AR" dirty="0"/>
              <a:t>;       // </a:t>
            </a:r>
            <a:r>
              <a:rPr lang="es-AR" dirty="0" err="1"/>
              <a:t>null</a:t>
            </a:r>
            <a:endParaRPr lang="es-AR" dirty="0"/>
          </a:p>
          <a:p>
            <a:r>
              <a:rPr lang="es-ES" b="1" dirty="0" err="1">
                <a:solidFill>
                  <a:srgbClr val="FFCC00"/>
                </a:solidFill>
              </a:rPr>
              <a:t>Undefined</a:t>
            </a:r>
            <a:r>
              <a:rPr lang="es-ES" dirty="0"/>
              <a:t>: Valor asignado automáticamente a variables que han sido declaradas pero aún no tienen un valor definido.</a:t>
            </a:r>
            <a:r>
              <a:rPr lang="es-AR" dirty="0"/>
              <a:t> </a:t>
            </a:r>
            <a:r>
              <a:rPr lang="es-AR" dirty="0" err="1"/>
              <a:t>let</a:t>
            </a:r>
            <a:r>
              <a:rPr lang="es-AR" dirty="0"/>
              <a:t> ciudad;   //</a:t>
            </a:r>
            <a:r>
              <a:rPr lang="es-AR" dirty="0" err="1"/>
              <a:t>undefined</a:t>
            </a:r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85D8B66-3AB3-46CF-9E8F-149E7E458920}"/>
              </a:ext>
            </a:extLst>
          </p:cNvPr>
          <p:cNvSpPr txBox="1">
            <a:spLocks/>
          </p:cNvSpPr>
          <p:nvPr/>
        </p:nvSpPr>
        <p:spPr>
          <a:xfrm>
            <a:off x="945777" y="1614894"/>
            <a:ext cx="9144000" cy="754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b="1" dirty="0"/>
              <a:t>Tipos de Datos Primitivos</a:t>
            </a:r>
          </a:p>
        </p:txBody>
      </p:sp>
    </p:spTree>
    <p:extLst>
      <p:ext uri="{BB962C8B-B14F-4D97-AF65-F5344CB8AC3E}">
        <p14:creationId xmlns:p14="http://schemas.microsoft.com/office/powerpoint/2010/main" val="185213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58ED-B025-40C9-8B4F-359472E1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4FDB7B-6008-4266-8AD9-A5126FF34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100" y="2827337"/>
            <a:ext cx="10233800" cy="3665538"/>
          </a:xfrm>
        </p:spPr>
        <p:txBody>
          <a:bodyPr>
            <a:normAutofit/>
          </a:bodyPr>
          <a:lstStyle/>
          <a:p>
            <a:r>
              <a:rPr lang="es-AR" b="1" dirty="0" err="1"/>
              <a:t>BigInt</a:t>
            </a:r>
            <a:r>
              <a:rPr lang="es-AR" dirty="0"/>
              <a:t>: Se utiliza para almacenar números enteros que son demasiado grandes para ser representados por el tipo </a:t>
            </a:r>
            <a:r>
              <a:rPr lang="es-AR" dirty="0" err="1"/>
              <a:t>Number</a:t>
            </a:r>
            <a:endParaRPr lang="es-AR" dirty="0"/>
          </a:p>
          <a:p>
            <a:pPr marL="0" indent="0">
              <a:buNone/>
            </a:pPr>
            <a:endParaRPr lang="es-AR" dirty="0"/>
          </a:p>
          <a:p>
            <a:r>
              <a:rPr lang="es-ES" b="1" dirty="0"/>
              <a:t>Symbol</a:t>
            </a:r>
            <a:r>
              <a:rPr lang="es-ES" dirty="0"/>
              <a:t>: Un identificador único e inmutable, introducido en ES6 para evitar colisiones de nombres en propiedades de objetos</a:t>
            </a:r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85D8B66-3AB3-46CF-9E8F-149E7E458920}"/>
              </a:ext>
            </a:extLst>
          </p:cNvPr>
          <p:cNvSpPr txBox="1">
            <a:spLocks/>
          </p:cNvSpPr>
          <p:nvPr/>
        </p:nvSpPr>
        <p:spPr>
          <a:xfrm>
            <a:off x="945776" y="1614894"/>
            <a:ext cx="10126223" cy="10476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b="1" dirty="0"/>
              <a:t>Tipos de Datos Primitivos   </a:t>
            </a:r>
            <a:br>
              <a:rPr lang="es-AR" b="1" dirty="0"/>
            </a:br>
            <a:endParaRPr lang="es-AR" b="1" dirty="0"/>
          </a:p>
          <a:p>
            <a:pPr marL="0" indent="0">
              <a:buNone/>
            </a:pPr>
            <a:r>
              <a:rPr lang="es-AR" b="1" dirty="0">
                <a:solidFill>
                  <a:srgbClr val="FFCC00"/>
                </a:solidFill>
              </a:rPr>
              <a:t>	 Estos nos son muy usados con frecuencia (al menos no al </a:t>
            </a:r>
            <a:r>
              <a:rPr lang="es-AR" b="1" dirty="0" err="1">
                <a:solidFill>
                  <a:srgbClr val="FFCC00"/>
                </a:solidFill>
              </a:rPr>
              <a:t>epmezar</a:t>
            </a:r>
            <a:r>
              <a:rPr lang="es-AR" b="1" dirty="0">
                <a:solidFill>
                  <a:srgbClr val="FFCC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3454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58ED-B025-40C9-8B4F-359472E1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4FDB7B-6008-4266-8AD9-A5126FF34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293125"/>
            <a:ext cx="10233800" cy="4351338"/>
          </a:xfrm>
        </p:spPr>
        <p:txBody>
          <a:bodyPr/>
          <a:lstStyle/>
          <a:p>
            <a:r>
              <a:rPr lang="es-ES" b="1" dirty="0" err="1"/>
              <a:t>Object</a:t>
            </a:r>
            <a:r>
              <a:rPr lang="es-ES" dirty="0"/>
              <a:t>: Es la estructura fundamental. Se usa para almacenar datos con claves valor y funciones complejas. </a:t>
            </a:r>
            <a:r>
              <a:rPr lang="es-AR" dirty="0" err="1"/>
              <a:t>let</a:t>
            </a:r>
            <a:r>
              <a:rPr lang="es-AR" dirty="0"/>
              <a:t> </a:t>
            </a:r>
            <a:r>
              <a:rPr lang="es-AR" dirty="0" err="1"/>
              <a:t>objt</a:t>
            </a:r>
            <a:r>
              <a:rPr lang="es-AR" dirty="0"/>
              <a:t> = { llave : ‘valor’} </a:t>
            </a:r>
            <a:br>
              <a:rPr lang="es-AR" dirty="0"/>
            </a:br>
            <a:endParaRPr lang="es-AR" dirty="0"/>
          </a:p>
          <a:p>
            <a:r>
              <a:rPr lang="es-AR" b="1" dirty="0" err="1"/>
              <a:t>Arrays</a:t>
            </a:r>
            <a:r>
              <a:rPr lang="es-AR" b="1" dirty="0"/>
              <a:t> (Arreglos)</a:t>
            </a:r>
            <a:r>
              <a:rPr lang="es-AR" dirty="0"/>
              <a:t>: Un tipo especial de objeto diseñado para almacenar listas ordenadas de valores.  </a:t>
            </a:r>
            <a:r>
              <a:rPr lang="es-AR" dirty="0" err="1"/>
              <a:t>let</a:t>
            </a:r>
            <a:r>
              <a:rPr lang="es-AR" dirty="0"/>
              <a:t> lista = [ “Fruta”, 2, true];</a:t>
            </a:r>
          </a:p>
          <a:p>
            <a:endParaRPr lang="es-AR" dirty="0"/>
          </a:p>
          <a:p>
            <a:r>
              <a:rPr lang="es-ES" b="1" dirty="0" err="1"/>
              <a:t>Functions</a:t>
            </a:r>
            <a:r>
              <a:rPr lang="es-ES" b="1" dirty="0"/>
              <a:t> (Funciones)</a:t>
            </a:r>
            <a:r>
              <a:rPr lang="es-ES" dirty="0"/>
              <a:t>: En JavaScript, las funciones también son objetos de primera clase.</a:t>
            </a:r>
            <a:br>
              <a:rPr lang="es-ES" dirty="0"/>
            </a:br>
            <a:r>
              <a:rPr lang="es-ES" dirty="0"/>
              <a:t>	 </a:t>
            </a:r>
            <a:r>
              <a:rPr lang="es-ES" dirty="0" err="1"/>
              <a:t>let</a:t>
            </a:r>
            <a:r>
              <a:rPr lang="es-ES" dirty="0"/>
              <a:t> </a:t>
            </a:r>
            <a:r>
              <a:rPr lang="es-ES" dirty="0" err="1"/>
              <a:t>miFuncion</a:t>
            </a:r>
            <a:r>
              <a:rPr lang="es-ES" dirty="0"/>
              <a:t> = () =&gt;{console.log(‘hola’)};</a:t>
            </a:r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85D8B66-3AB3-46CF-9E8F-149E7E458920}"/>
              </a:ext>
            </a:extLst>
          </p:cNvPr>
          <p:cNvSpPr txBox="1">
            <a:spLocks/>
          </p:cNvSpPr>
          <p:nvPr/>
        </p:nvSpPr>
        <p:spPr>
          <a:xfrm>
            <a:off x="945777" y="1614894"/>
            <a:ext cx="9144000" cy="754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b="1" dirty="0"/>
              <a:t>Tipos de Datos NO Primitivos (Objetos)</a:t>
            </a:r>
          </a:p>
        </p:txBody>
      </p:sp>
    </p:spTree>
    <p:extLst>
      <p:ext uri="{BB962C8B-B14F-4D97-AF65-F5344CB8AC3E}">
        <p14:creationId xmlns:p14="http://schemas.microsoft.com/office/powerpoint/2010/main" val="47888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30F41-9C0F-4E42-A411-AE7169DE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saber el tipo de una variable?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40121-5E4E-4DB9-8241-BE01F0F1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 err="1"/>
              <a:t>let</a:t>
            </a:r>
            <a:r>
              <a:rPr lang="es-AR" dirty="0"/>
              <a:t> numero = 42;</a:t>
            </a:r>
          </a:p>
          <a:p>
            <a:pPr marL="0" indent="0">
              <a:buNone/>
            </a:pPr>
            <a:r>
              <a:rPr lang="es-AR" dirty="0"/>
              <a:t>console.log(</a:t>
            </a:r>
            <a:r>
              <a:rPr lang="es-AR" dirty="0" err="1"/>
              <a:t>typeof</a:t>
            </a:r>
            <a:r>
              <a:rPr lang="es-AR" dirty="0"/>
              <a:t> numero);  // "</a:t>
            </a:r>
            <a:r>
              <a:rPr lang="es-AR" dirty="0" err="1"/>
              <a:t>number</a:t>
            </a:r>
            <a:r>
              <a:rPr lang="es-AR" dirty="0"/>
              <a:t>"</a:t>
            </a:r>
          </a:p>
          <a:p>
            <a:endParaRPr lang="es-AR" dirty="0"/>
          </a:p>
          <a:p>
            <a:pPr marL="0" indent="0">
              <a:buNone/>
            </a:pPr>
            <a:r>
              <a:rPr lang="es-AR" dirty="0" err="1"/>
              <a:t>let</a:t>
            </a:r>
            <a:r>
              <a:rPr lang="es-AR" dirty="0"/>
              <a:t> texto = "Hola";</a:t>
            </a:r>
          </a:p>
          <a:p>
            <a:pPr marL="0" indent="0">
              <a:buNone/>
            </a:pPr>
            <a:r>
              <a:rPr lang="es-AR" dirty="0"/>
              <a:t>console.log(</a:t>
            </a:r>
            <a:r>
              <a:rPr lang="es-AR" dirty="0" err="1"/>
              <a:t>typeof</a:t>
            </a:r>
            <a:r>
              <a:rPr lang="es-AR" dirty="0"/>
              <a:t> texto);   // "</a:t>
            </a:r>
            <a:r>
              <a:rPr lang="es-AR" dirty="0" err="1"/>
              <a:t>string</a:t>
            </a:r>
            <a:r>
              <a:rPr lang="es-AR" dirty="0"/>
              <a:t>"</a:t>
            </a:r>
          </a:p>
          <a:p>
            <a:endParaRPr lang="es-AR" dirty="0"/>
          </a:p>
          <a:p>
            <a:pPr marL="0" indent="0">
              <a:buNone/>
            </a:pPr>
            <a:r>
              <a:rPr lang="es-AR" dirty="0" err="1"/>
              <a:t>let</a:t>
            </a:r>
            <a:r>
              <a:rPr lang="es-AR" dirty="0"/>
              <a:t> activo = true;</a:t>
            </a:r>
          </a:p>
          <a:p>
            <a:pPr marL="0" indent="0">
              <a:buNone/>
            </a:pPr>
            <a:r>
              <a:rPr lang="es-AR" dirty="0"/>
              <a:t>console.log(</a:t>
            </a:r>
            <a:r>
              <a:rPr lang="es-AR" dirty="0" err="1"/>
              <a:t>typeof</a:t>
            </a:r>
            <a:r>
              <a:rPr lang="es-AR" dirty="0"/>
              <a:t> activo);  // "</a:t>
            </a:r>
            <a:r>
              <a:rPr lang="es-AR" dirty="0" err="1"/>
              <a:t>boolean</a:t>
            </a:r>
            <a:r>
              <a:rPr lang="es-A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7430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CE6EB-5446-4CB8-866E-F132F25C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Diferencia entre </a:t>
            </a:r>
            <a:r>
              <a:rPr lang="es-ES" dirty="0" err="1"/>
              <a:t>Undefined</a:t>
            </a:r>
            <a:r>
              <a:rPr lang="es-ES" dirty="0"/>
              <a:t> y </a:t>
            </a:r>
            <a:r>
              <a:rPr lang="es-ES" dirty="0" err="1"/>
              <a:t>null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7BE616-0A02-4437-BC28-4E599ECDB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/>
          <a:lstStyle/>
          <a:p>
            <a:r>
              <a:rPr lang="es-ES" sz="4000" dirty="0" err="1"/>
              <a:t>undefined</a:t>
            </a:r>
            <a:r>
              <a:rPr lang="es-ES" dirty="0"/>
              <a:t> es un valor por defecto que JavaScript asigna automáticamente a una variable cuando no se le ha asignado ningún valor.</a:t>
            </a:r>
            <a:br>
              <a:rPr lang="es-ES" dirty="0"/>
            </a:br>
            <a:r>
              <a:rPr lang="es-ES" dirty="0"/>
              <a:t>	 </a:t>
            </a:r>
            <a:r>
              <a:rPr lang="es-ES" dirty="0" err="1"/>
              <a:t>let</a:t>
            </a:r>
            <a:r>
              <a:rPr lang="es-ES" dirty="0"/>
              <a:t> x;</a:t>
            </a:r>
          </a:p>
          <a:p>
            <a:pPr marL="0" indent="0">
              <a:buNone/>
            </a:pPr>
            <a:r>
              <a:rPr lang="es-ES" dirty="0"/>
              <a:t>	console.log(x); // </a:t>
            </a:r>
            <a:r>
              <a:rPr lang="es-ES" dirty="0" err="1"/>
              <a:t>undefined</a:t>
            </a:r>
            <a:endParaRPr lang="es-ES" dirty="0"/>
          </a:p>
          <a:p>
            <a:endParaRPr lang="es-ES" dirty="0"/>
          </a:p>
          <a:p>
            <a:r>
              <a:rPr lang="es-ES" dirty="0"/>
              <a:t> </a:t>
            </a:r>
            <a:r>
              <a:rPr lang="es-ES" sz="4000" dirty="0" err="1"/>
              <a:t>null</a:t>
            </a:r>
            <a:r>
              <a:rPr lang="es-ES" dirty="0"/>
              <a:t> es un valor intencional que se usa para indicar que una variable debería tener un valor, pero ahora no lo tiene.</a:t>
            </a:r>
          </a:p>
          <a:p>
            <a:pPr marL="0" indent="0">
              <a:buNone/>
            </a:pPr>
            <a:r>
              <a:rPr lang="es-ES" dirty="0"/>
              <a:t>	 </a:t>
            </a:r>
            <a:r>
              <a:rPr lang="es-ES" dirty="0" err="1"/>
              <a:t>let</a:t>
            </a:r>
            <a:r>
              <a:rPr lang="es-ES" dirty="0"/>
              <a:t> usuario = </a:t>
            </a:r>
            <a:r>
              <a:rPr lang="es-ES" dirty="0" err="1"/>
              <a:t>null</a:t>
            </a:r>
            <a:r>
              <a:rPr lang="es-ES" dirty="0"/>
              <a:t>; // intencionalmente sin valor (aún)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91567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839CB-0CB8-4FFD-8807-3429CE50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</a:t>
            </a:r>
            <a:r>
              <a:rPr lang="es-ES" dirty="0" err="1"/>
              <a:t>if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BD0383-C63D-4314-AC3B-84AAA67E1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9583859" cy="4857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Es muy similar a muchos lenguajes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 err="1"/>
              <a:t>if</a:t>
            </a:r>
            <a:r>
              <a:rPr lang="es-ES" dirty="0"/>
              <a:t> (condición) </a:t>
            </a:r>
            <a:r>
              <a:rPr lang="es-ES" dirty="0">
                <a:solidFill>
                  <a:srgbClr val="FFCC00"/>
                </a:solidFill>
              </a:rPr>
              <a:t>{</a:t>
            </a:r>
          </a:p>
          <a:p>
            <a:pPr marL="0" indent="0">
              <a:buNone/>
            </a:pPr>
            <a:r>
              <a:rPr lang="es-ES" dirty="0"/>
              <a:t>	  // Código que se ejecuta si la condición es verdadera</a:t>
            </a:r>
          </a:p>
          <a:p>
            <a:pPr marL="0" indent="0">
              <a:buNone/>
            </a:pPr>
            <a:r>
              <a:rPr lang="es-ES" dirty="0">
                <a:solidFill>
                  <a:srgbClr val="FFCC00"/>
                </a:solidFill>
              </a:rPr>
              <a:t>}</a:t>
            </a: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s-ES" dirty="0" err="1"/>
              <a:t>if</a:t>
            </a:r>
            <a:r>
              <a:rPr lang="es-ES" dirty="0"/>
              <a:t> (condición) </a:t>
            </a:r>
            <a:r>
              <a:rPr lang="es-ES" dirty="0">
                <a:solidFill>
                  <a:srgbClr val="FFCC00"/>
                </a:solidFill>
              </a:rPr>
              <a:t>{</a:t>
            </a:r>
          </a:p>
          <a:p>
            <a:pPr marL="0" indent="0">
              <a:buNone/>
            </a:pPr>
            <a:r>
              <a:rPr lang="es-ES" dirty="0"/>
              <a:t> 	 // Si se cumple</a:t>
            </a:r>
          </a:p>
          <a:p>
            <a:pPr marL="0" indent="0">
              <a:buNone/>
            </a:pPr>
            <a:r>
              <a:rPr lang="es-ES" dirty="0">
                <a:solidFill>
                  <a:srgbClr val="FFCC00"/>
                </a:solidFill>
              </a:rPr>
              <a:t>}</a:t>
            </a:r>
            <a:r>
              <a:rPr lang="es-ES" dirty="0"/>
              <a:t> </a:t>
            </a:r>
            <a:r>
              <a:rPr lang="es-ES" dirty="0" err="1"/>
              <a:t>else</a:t>
            </a:r>
            <a:r>
              <a:rPr lang="es-ES" dirty="0"/>
              <a:t> </a:t>
            </a:r>
            <a:r>
              <a:rPr lang="es-ES" dirty="0">
                <a:solidFill>
                  <a:srgbClr val="FFCC00"/>
                </a:solidFill>
              </a:rPr>
              <a:t>{</a:t>
            </a:r>
          </a:p>
          <a:p>
            <a:pPr marL="0" indent="0">
              <a:buNone/>
            </a:pPr>
            <a:r>
              <a:rPr lang="es-ES" dirty="0"/>
              <a:t> 	 // Si NO se cumple</a:t>
            </a:r>
          </a:p>
          <a:p>
            <a:pPr marL="0" indent="0">
              <a:buNone/>
            </a:pPr>
            <a:r>
              <a:rPr lang="es-ES" dirty="0">
                <a:solidFill>
                  <a:srgbClr val="FFCC00"/>
                </a:solidFill>
              </a:rPr>
              <a:t>}</a:t>
            </a:r>
            <a:endParaRPr lang="es-AR" dirty="0">
              <a:solidFill>
                <a:srgbClr val="FF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441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839CB-0CB8-4FFD-8807-3429CE50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</a:t>
            </a:r>
            <a:r>
              <a:rPr lang="es-ES" dirty="0" err="1"/>
              <a:t>if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BD0383-C63D-4314-AC3B-84AAA67E1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9583859" cy="3996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/>
              <a:t>if</a:t>
            </a:r>
            <a:r>
              <a:rPr lang="es-ES" dirty="0"/>
              <a:t> (condición1) {</a:t>
            </a:r>
          </a:p>
          <a:p>
            <a:pPr marL="0" indent="0">
              <a:buNone/>
            </a:pPr>
            <a:r>
              <a:rPr lang="es-ES" dirty="0"/>
              <a:t>  // Si condición1 es verdadera</a:t>
            </a:r>
          </a:p>
          <a:p>
            <a:pPr marL="0" indent="0">
              <a:buNone/>
            </a:pPr>
            <a:r>
              <a:rPr lang="es-ES" dirty="0"/>
              <a:t>} </a:t>
            </a:r>
            <a:r>
              <a:rPr lang="es-ES" dirty="0" err="1"/>
              <a:t>else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(condición2) {</a:t>
            </a:r>
          </a:p>
          <a:p>
            <a:pPr marL="0" indent="0">
              <a:buNone/>
            </a:pPr>
            <a:r>
              <a:rPr lang="es-ES" dirty="0"/>
              <a:t>  // Si condición2 es verdadera</a:t>
            </a:r>
          </a:p>
          <a:p>
            <a:pPr marL="0" indent="0">
              <a:buNone/>
            </a:pPr>
            <a:r>
              <a:rPr lang="es-ES" dirty="0"/>
              <a:t>} </a:t>
            </a:r>
            <a:r>
              <a:rPr lang="es-ES" dirty="0" err="1"/>
              <a:t>else</a:t>
            </a:r>
            <a:r>
              <a:rPr lang="es-ES" dirty="0"/>
              <a:t> {</a:t>
            </a:r>
          </a:p>
          <a:p>
            <a:pPr marL="0" indent="0">
              <a:buNone/>
            </a:pPr>
            <a:r>
              <a:rPr lang="es-ES" dirty="0"/>
              <a:t>  // Si ninguna se cumple</a:t>
            </a:r>
          </a:p>
          <a:p>
            <a:pPr marL="0" indent="0">
              <a:buNone/>
            </a:pPr>
            <a:r>
              <a:rPr lang="es-ES" dirty="0"/>
              <a:t>}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3444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69EDA-FBE9-4776-9E4A-5E00DE2F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Declarar una función tradicional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691915-DB00-4345-A3D2-6EA9A86D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DECLARAR LA FUNCION</a:t>
            </a:r>
          </a:p>
          <a:p>
            <a:pPr marL="0" indent="0">
              <a:buNone/>
            </a:pPr>
            <a:r>
              <a:rPr lang="es-AR" dirty="0" err="1"/>
              <a:t>function</a:t>
            </a:r>
            <a:r>
              <a:rPr lang="es-AR" dirty="0"/>
              <a:t> saludar() {</a:t>
            </a:r>
          </a:p>
          <a:p>
            <a:pPr marL="0" indent="0">
              <a:buNone/>
            </a:pPr>
            <a:r>
              <a:rPr lang="es-AR" dirty="0"/>
              <a:t>  console.log("¡Hola mundo!");</a:t>
            </a:r>
          </a:p>
          <a:p>
            <a:pPr marL="0" indent="0">
              <a:buNone/>
            </a:pPr>
            <a:r>
              <a:rPr lang="es-AR" dirty="0"/>
              <a:t>}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/>
              <a:t>LLAMAR A LA FUNCION</a:t>
            </a:r>
          </a:p>
          <a:p>
            <a:pPr marL="0" indent="0">
              <a:buNone/>
            </a:pPr>
            <a:r>
              <a:rPr lang="es-AR" dirty="0"/>
              <a:t>saludar();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8043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EF174-75FA-496C-A44F-185C69B3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 de operadores lógicos</a:t>
            </a:r>
            <a:endParaRPr lang="es-AR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82AAEC6C-DACE-4F18-BDCB-E5F68286E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2176" y="5743095"/>
            <a:ext cx="5768789" cy="11149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1B89AA9-5F41-4D37-86E1-95D88DE41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176" y="1455606"/>
            <a:ext cx="5768789" cy="430556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7A7B93F-E033-4EF0-B445-E3E51FCC3752}"/>
              </a:ext>
            </a:extLst>
          </p:cNvPr>
          <p:cNvSpPr/>
          <p:nvPr/>
        </p:nvSpPr>
        <p:spPr>
          <a:xfrm>
            <a:off x="8964706" y="4757348"/>
            <a:ext cx="26132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https://developer.mozilla.org/es/docs/Web/JavaScript/Guide/Expressions_and_operators</a:t>
            </a:r>
            <a:r>
              <a:rPr lang="es-A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2343BFF-DF4D-4BD5-9889-48B42C6E817A}"/>
              </a:ext>
            </a:extLst>
          </p:cNvPr>
          <p:cNvSpPr/>
          <p:nvPr/>
        </p:nvSpPr>
        <p:spPr>
          <a:xfrm>
            <a:off x="8964706" y="4111017"/>
            <a:ext cx="26132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Referencia de Página MDN</a:t>
            </a:r>
          </a:p>
        </p:txBody>
      </p:sp>
    </p:spTree>
    <p:extLst>
      <p:ext uri="{BB962C8B-B14F-4D97-AF65-F5344CB8AC3E}">
        <p14:creationId xmlns:p14="http://schemas.microsoft.com/office/powerpoint/2010/main" val="2516217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036C7-A297-440A-9E79-AC37A8885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Retorno de </a:t>
            </a:r>
            <a:r>
              <a:rPr lang="es-ES" dirty="0" err="1"/>
              <a:t>undefined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4CAFE1-E367-4A3B-A956-8EFF9AFE6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Undefined</a:t>
            </a:r>
            <a:r>
              <a:rPr lang="es-ES" dirty="0"/>
              <a:t> es el </a:t>
            </a:r>
            <a:r>
              <a:rPr lang="es-ES" b="1" dirty="0"/>
              <a:t>valor de retorno por defecto</a:t>
            </a:r>
            <a:r>
              <a:rPr lang="es-ES" dirty="0"/>
              <a:t> del lenguaje cuando no se especifica otra cosa en una función.</a:t>
            </a:r>
          </a:p>
          <a:p>
            <a:endParaRPr lang="es-ES" dirty="0"/>
          </a:p>
          <a:p>
            <a:r>
              <a:rPr lang="es-ES" dirty="0"/>
              <a:t>Ya lo van a ir viendo a medida desarrollemos pero básicamente en </a:t>
            </a:r>
            <a:r>
              <a:rPr lang="es-ES" dirty="0" err="1"/>
              <a:t>js</a:t>
            </a:r>
            <a:r>
              <a:rPr lang="es-ES" dirty="0"/>
              <a:t> toda función retorna </a:t>
            </a:r>
            <a:r>
              <a:rPr lang="es-ES" dirty="0" err="1"/>
              <a:t>undefined</a:t>
            </a:r>
            <a:r>
              <a:rPr lang="es-ES" dirty="0"/>
              <a:t> a menos que explícitamente le digamos a la función que retorne un valor.</a:t>
            </a:r>
            <a:br>
              <a:rPr lang="es-ES" dirty="0"/>
            </a:br>
            <a:endParaRPr lang="es-ES" dirty="0"/>
          </a:p>
          <a:p>
            <a:r>
              <a:rPr lang="es-ES" dirty="0"/>
              <a:t>Como dijimos No se mareen esto lo van a ir viendo a medida caminamos con el lenguaje.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76866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3029C-2EC8-42F3-B859-A241E349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qué vamos a usar JS 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E3B9E9-90AF-47EE-B262-55BFBBCA6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1092387"/>
          </a:xfrm>
        </p:spPr>
        <p:txBody>
          <a:bodyPr/>
          <a:lstStyle/>
          <a:p>
            <a:r>
              <a:rPr lang="es-ES" dirty="0"/>
              <a:t>Nada menos que para manipular el DOM y dar lógica a nuestro </a:t>
            </a:r>
            <a:r>
              <a:rPr lang="es-ES" dirty="0" err="1"/>
              <a:t>Fronted</a:t>
            </a:r>
            <a:r>
              <a:rPr lang="es-ES" dirty="0"/>
              <a:t> trabajando en conjunto con: 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8AD8E8-728E-4849-98E9-1EFA4AAA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688" y="2365001"/>
            <a:ext cx="1506346" cy="15968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4EDD69-AD3B-490C-9EC7-EDFC96CD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147" y="2374650"/>
            <a:ext cx="1506346" cy="15872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D34B951-BEDA-4EF0-BD8A-9E2A2E0F836F}"/>
              </a:ext>
            </a:extLst>
          </p:cNvPr>
          <p:cNvSpPr txBox="1">
            <a:spLocks/>
          </p:cNvSpPr>
          <p:nvPr/>
        </p:nvSpPr>
        <p:spPr>
          <a:xfrm>
            <a:off x="1120000" y="4399737"/>
            <a:ext cx="10233800" cy="1092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Pero también se usa para desarrollar el </a:t>
            </a:r>
            <a:r>
              <a:rPr lang="es-ES" dirty="0" err="1"/>
              <a:t>Backend</a:t>
            </a:r>
            <a:r>
              <a:rPr lang="es-ES" dirty="0"/>
              <a:t> trabajando con alguna BD y fundamentalmente con </a:t>
            </a:r>
            <a:endParaRPr lang="es-AR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20AD8D6-4A6F-42DE-AE17-BE72205A8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232" y="4924029"/>
            <a:ext cx="2700088" cy="17416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7432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1E3D4-0E14-41DA-B902-8055CAD5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JavaScript esta en todos los navegadores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B179E5-28F3-4B2A-B34C-338CEFAD7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Para aprender a usar el lenguaje no hace falta instalar nada si ya venimos usando HTML y CSS</a:t>
            </a:r>
            <a:br>
              <a:rPr lang="es-ES" dirty="0"/>
            </a:br>
            <a:r>
              <a:rPr lang="es-ES" dirty="0"/>
              <a:t>Ya que </a:t>
            </a:r>
            <a:r>
              <a:rPr lang="es-ES" dirty="0">
                <a:solidFill>
                  <a:srgbClr val="FFCC00"/>
                </a:solidFill>
              </a:rPr>
              <a:t>JS viene instalado en todos los navegadores modernos </a:t>
            </a:r>
            <a:r>
              <a:rPr lang="es-ES" dirty="0"/>
              <a:t>y</a:t>
            </a:r>
          </a:p>
          <a:p>
            <a:pPr marL="0" indent="0">
              <a:buNone/>
            </a:pPr>
            <a:r>
              <a:rPr lang="es-ES" dirty="0"/>
              <a:t>Implementan el estándar </a:t>
            </a:r>
            <a:r>
              <a:rPr lang="es-ES" dirty="0">
                <a:solidFill>
                  <a:srgbClr val="FFCC00"/>
                </a:solidFill>
              </a:rPr>
              <a:t>ECMAScript  este </a:t>
            </a:r>
            <a:r>
              <a:rPr lang="es-ES" dirty="0">
                <a:solidFill>
                  <a:schemeClr val="tx1"/>
                </a:solidFill>
              </a:rPr>
              <a:t>es el estándar que define cómo debe funcionar el lenguaje JavaScript</a:t>
            </a:r>
            <a:r>
              <a:rPr lang="es-ES" dirty="0">
                <a:solidFill>
                  <a:srgbClr val="FFCC00"/>
                </a:solidFill>
              </a:rPr>
              <a:t>. </a:t>
            </a:r>
            <a:r>
              <a:rPr lang="es-ES" dirty="0">
                <a:solidFill>
                  <a:schemeClr val="tx1"/>
                </a:solidFill>
              </a:rPr>
              <a:t>actual </a:t>
            </a:r>
            <a:r>
              <a:rPr lang="es-ES" dirty="0">
                <a:solidFill>
                  <a:srgbClr val="FFCC00"/>
                </a:solidFill>
              </a:rPr>
              <a:t>(ES2026)</a:t>
            </a:r>
            <a:endParaRPr lang="es-ES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A03056-00CD-4538-B1B9-58D1C85E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304" y="4192871"/>
            <a:ext cx="1505160" cy="12003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9A2EE7-5E0B-4AF5-9435-6E3BA54E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926" y="4172731"/>
            <a:ext cx="1409897" cy="12490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AE09EFF-1923-494E-8E53-CE7E7CAA1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20" y="4192871"/>
            <a:ext cx="1409897" cy="12288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C043BE-37AD-43ED-B606-FABD11A21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774" y="4221721"/>
            <a:ext cx="1223530" cy="12288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288944-21BE-449D-99D9-A5AB1070A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7261" y="4250571"/>
            <a:ext cx="1640741" cy="12000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8820B35-7902-4570-BEBE-1EE9F6CFB750}"/>
              </a:ext>
            </a:extLst>
          </p:cNvPr>
          <p:cNvSpPr txBox="1">
            <a:spLocks/>
          </p:cNvSpPr>
          <p:nvPr/>
        </p:nvSpPr>
        <p:spPr>
          <a:xfrm>
            <a:off x="1591963" y="5523887"/>
            <a:ext cx="1675912" cy="8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Firefox</a:t>
            </a:r>
            <a:br>
              <a:rPr lang="es-ES" b="1" dirty="0"/>
            </a:br>
            <a:r>
              <a:rPr lang="es-ES" sz="2000" dirty="0"/>
              <a:t>Mozilla</a:t>
            </a:r>
            <a:endParaRPr lang="es-AR" dirty="0"/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5CAD52C7-78F9-423E-BE79-D8399F988F4F}"/>
              </a:ext>
            </a:extLst>
          </p:cNvPr>
          <p:cNvSpPr txBox="1">
            <a:spLocks/>
          </p:cNvSpPr>
          <p:nvPr/>
        </p:nvSpPr>
        <p:spPr>
          <a:xfrm>
            <a:off x="5094459" y="5564228"/>
            <a:ext cx="1675912" cy="841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Edge</a:t>
            </a:r>
          </a:p>
          <a:p>
            <a:pPr marL="0" indent="0" algn="ctr">
              <a:buNone/>
            </a:pPr>
            <a:r>
              <a:rPr lang="es-ES" sz="2200" dirty="0"/>
              <a:t>Microsoft</a:t>
            </a:r>
            <a:endParaRPr lang="es-AR" dirty="0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33D0BE07-ED66-4CCF-A152-9C468D8C4810}"/>
              </a:ext>
            </a:extLst>
          </p:cNvPr>
          <p:cNvSpPr txBox="1">
            <a:spLocks/>
          </p:cNvSpPr>
          <p:nvPr/>
        </p:nvSpPr>
        <p:spPr>
          <a:xfrm>
            <a:off x="3241405" y="5591979"/>
            <a:ext cx="1675912" cy="841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Chrome</a:t>
            </a:r>
          </a:p>
          <a:p>
            <a:pPr marL="0" indent="0" algn="ctr">
              <a:buNone/>
            </a:pPr>
            <a:r>
              <a:rPr lang="es-ES" sz="2200" dirty="0"/>
              <a:t>Google</a:t>
            </a:r>
            <a:endParaRPr lang="es-AR" dirty="0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8B915589-F21F-4D8E-816B-675DCEA6D2E3}"/>
              </a:ext>
            </a:extLst>
          </p:cNvPr>
          <p:cNvSpPr txBox="1">
            <a:spLocks/>
          </p:cNvSpPr>
          <p:nvPr/>
        </p:nvSpPr>
        <p:spPr>
          <a:xfrm>
            <a:off x="6985319" y="5623845"/>
            <a:ext cx="1675912" cy="841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Safari</a:t>
            </a:r>
          </a:p>
          <a:p>
            <a:pPr marL="0" indent="0" algn="ctr">
              <a:buNone/>
            </a:pPr>
            <a:r>
              <a:rPr lang="es-ES" sz="2200" dirty="0" err="1"/>
              <a:t>apple</a:t>
            </a:r>
            <a:endParaRPr lang="es-AR" dirty="0"/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F380B29B-AF78-483C-8DB6-FA810B492401}"/>
              </a:ext>
            </a:extLst>
          </p:cNvPr>
          <p:cNvSpPr txBox="1">
            <a:spLocks/>
          </p:cNvSpPr>
          <p:nvPr/>
        </p:nvSpPr>
        <p:spPr>
          <a:xfrm>
            <a:off x="8921001" y="5651219"/>
            <a:ext cx="1675912" cy="841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Opera</a:t>
            </a:r>
          </a:p>
          <a:p>
            <a:pPr marL="0" indent="0" algn="ctr">
              <a:buNone/>
            </a:pPr>
            <a:r>
              <a:rPr lang="es-ES" sz="2200" dirty="0"/>
              <a:t>Opera </a:t>
            </a:r>
            <a:r>
              <a:rPr lang="es-ES" sz="2200" dirty="0" err="1"/>
              <a:t>Limited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50708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EF174-75FA-496C-A44F-185C69B3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Motor de JavaScript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B4B78DF-6CF9-4BC0-B652-73C2DA933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785283"/>
            <a:ext cx="10233800" cy="4978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Todos los navegadores tiene un </a:t>
            </a:r>
            <a:r>
              <a:rPr lang="es-ES" dirty="0">
                <a:solidFill>
                  <a:srgbClr val="FFCC00"/>
                </a:solidFill>
              </a:rPr>
              <a:t>motor de JavaScript </a:t>
            </a:r>
            <a:r>
              <a:rPr lang="es-ES" dirty="0"/>
              <a:t>es el componente encargado de  ejecutar JavaScript.</a:t>
            </a:r>
          </a:p>
          <a:p>
            <a:pPr marL="0" indent="0">
              <a:buNone/>
            </a:pPr>
            <a:br>
              <a:rPr lang="es-ES" dirty="0"/>
            </a:br>
            <a:endParaRPr lang="es-AR" sz="3000" dirty="0">
              <a:solidFill>
                <a:srgbClr val="FFCC00"/>
              </a:solidFill>
            </a:endParaRPr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C0C79ACC-6C87-401E-8CCA-AE6513466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14533"/>
              </p:ext>
            </p:extLst>
          </p:nvPr>
        </p:nvGraphicFramePr>
        <p:xfrm>
          <a:off x="1442570" y="3052482"/>
          <a:ext cx="9306860" cy="27755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53430">
                  <a:extLst>
                    <a:ext uri="{9D8B030D-6E8A-4147-A177-3AD203B41FA5}">
                      <a16:colId xmlns:a16="http://schemas.microsoft.com/office/drawing/2014/main" val="1576709363"/>
                    </a:ext>
                  </a:extLst>
                </a:gridCol>
                <a:gridCol w="4653430">
                  <a:extLst>
                    <a:ext uri="{9D8B030D-6E8A-4147-A177-3AD203B41FA5}">
                      <a16:colId xmlns:a16="http://schemas.microsoft.com/office/drawing/2014/main" val="1304510561"/>
                    </a:ext>
                  </a:extLst>
                </a:gridCol>
              </a:tblGrid>
              <a:tr h="555115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Navegador</a:t>
                      </a:r>
                      <a:endParaRPr lang="es-A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 Motor JavaScript</a:t>
                      </a:r>
                      <a:endParaRPr lang="es-AR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99594"/>
                  </a:ext>
                </a:extLst>
              </a:tr>
              <a:tr h="555115"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/>
                        <a:t>Firefox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 err="1"/>
                        <a:t>SpiderMonkey</a:t>
                      </a:r>
                      <a:endParaRPr lang="es-AR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708758"/>
                  </a:ext>
                </a:extLst>
              </a:tr>
              <a:tr h="555115"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/>
                        <a:t>Chrome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/>
                        <a:t>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045508"/>
                  </a:ext>
                </a:extLst>
              </a:tr>
              <a:tr h="555115"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/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/>
                        <a:t>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276873"/>
                  </a:ext>
                </a:extLst>
              </a:tr>
              <a:tr h="555115"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/>
                        <a:t>Safari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b="1" dirty="0" err="1"/>
                        <a:t>JavaScriptCore</a:t>
                      </a:r>
                      <a:endParaRPr lang="es-AR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52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611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AF5C1-CE1A-4F53-9FEF-30019524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Hola mundo en JS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84DA2A-C4AE-464E-AB71-2F22BB69B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La manera recomendada de ejecutar código en </a:t>
            </a:r>
            <a:r>
              <a:rPr lang="es-ES" dirty="0" err="1"/>
              <a:t>js</a:t>
            </a:r>
            <a:r>
              <a:rPr lang="es-ES" dirty="0"/>
              <a:t> es crear un documento con la extensión .</a:t>
            </a:r>
            <a:r>
              <a:rPr lang="es-ES" dirty="0" err="1"/>
              <a:t>js</a:t>
            </a:r>
            <a:r>
              <a:rPr lang="es-ES" dirty="0"/>
              <a:t> por ejemplo script.js y enlazarlo al index.html</a:t>
            </a:r>
            <a:br>
              <a:rPr lang="es-ES" dirty="0"/>
            </a:b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FC0815-25E2-4B01-B383-4C99FBF25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329" y="3192331"/>
            <a:ext cx="3548083" cy="18019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A5F6428-7173-4948-B9A3-5D1F7456A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971" y="3234812"/>
            <a:ext cx="4502739" cy="17594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brir llave 6">
            <a:extLst>
              <a:ext uri="{FF2B5EF4-FFF2-40B4-BE49-F238E27FC236}">
                <a16:creationId xmlns:a16="http://schemas.microsoft.com/office/drawing/2014/main" id="{0B8FF893-8410-4721-B36F-0B0521C6C6CD}"/>
              </a:ext>
            </a:extLst>
          </p:cNvPr>
          <p:cNvSpPr/>
          <p:nvPr/>
        </p:nvSpPr>
        <p:spPr>
          <a:xfrm>
            <a:off x="1291100" y="3429000"/>
            <a:ext cx="332282" cy="1385047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5C11204D-639A-4F3D-875D-475D5101E277}"/>
              </a:ext>
            </a:extLst>
          </p:cNvPr>
          <p:cNvSpPr/>
          <p:nvPr/>
        </p:nvSpPr>
        <p:spPr>
          <a:xfrm rot="10800000">
            <a:off x="10179128" y="3400760"/>
            <a:ext cx="332282" cy="1385047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011CBF08-1B24-4D32-AEB2-CB78EF01364A}"/>
              </a:ext>
            </a:extLst>
          </p:cNvPr>
          <p:cNvSpPr txBox="1">
            <a:spLocks/>
          </p:cNvSpPr>
          <p:nvPr/>
        </p:nvSpPr>
        <p:spPr>
          <a:xfrm>
            <a:off x="321348" y="3693420"/>
            <a:ext cx="1204563" cy="1092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/>
              <a:t>Árbol</a:t>
            </a:r>
            <a:br>
              <a:rPr lang="es-ES" sz="2000" dirty="0"/>
            </a:br>
            <a:r>
              <a:rPr lang="es-ES" sz="2000" dirty="0"/>
              <a:t>de</a:t>
            </a:r>
            <a:br>
              <a:rPr lang="es-ES" sz="2000" dirty="0"/>
            </a:br>
            <a:r>
              <a:rPr lang="es-ES" sz="2000" dirty="0"/>
              <a:t>Archivos</a:t>
            </a:r>
            <a:endParaRPr lang="es-AR" sz="2000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7DBA0C3-AF8D-4F19-BB01-EE607765BA5B}"/>
              </a:ext>
            </a:extLst>
          </p:cNvPr>
          <p:cNvSpPr txBox="1">
            <a:spLocks/>
          </p:cNvSpPr>
          <p:nvPr/>
        </p:nvSpPr>
        <p:spPr>
          <a:xfrm>
            <a:off x="10767835" y="3901850"/>
            <a:ext cx="1384617" cy="1092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/>
              <a:t>Index.html</a:t>
            </a:r>
            <a:endParaRPr lang="es-AR" sz="2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A99131C-D23B-4805-8D4D-97BC396F7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547" y="5213021"/>
            <a:ext cx="4373730" cy="1190403"/>
          </a:xfrm>
          <a:prstGeom prst="rect">
            <a:avLst/>
          </a:prstGeom>
        </p:spPr>
      </p:pic>
      <p:sp>
        <p:nvSpPr>
          <p:cNvPr id="12" name="Abrir llave 11">
            <a:extLst>
              <a:ext uri="{FF2B5EF4-FFF2-40B4-BE49-F238E27FC236}">
                <a16:creationId xmlns:a16="http://schemas.microsoft.com/office/drawing/2014/main" id="{818BE521-D1AE-4112-BF5B-A2EB3B7D86A4}"/>
              </a:ext>
            </a:extLst>
          </p:cNvPr>
          <p:cNvSpPr/>
          <p:nvPr/>
        </p:nvSpPr>
        <p:spPr>
          <a:xfrm rot="10800000">
            <a:off x="8038788" y="5104895"/>
            <a:ext cx="332282" cy="1385047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74638D4-F804-40F2-8624-8D33684F78EF}"/>
              </a:ext>
            </a:extLst>
          </p:cNvPr>
          <p:cNvSpPr txBox="1">
            <a:spLocks/>
          </p:cNvSpPr>
          <p:nvPr/>
        </p:nvSpPr>
        <p:spPr>
          <a:xfrm>
            <a:off x="8794511" y="5653275"/>
            <a:ext cx="1384617" cy="1092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/>
              <a:t>script.js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791566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EF174-75FA-496C-A44F-185C69B3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Nota final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B4B78DF-6CF9-4BC0-B652-73C2DA933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785283"/>
            <a:ext cx="10233800" cy="4978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Tenemos mas temas importantes que aprender pero los vamos a ir viendo durante las practicas en clases, como por ejemplo:</a:t>
            </a:r>
            <a:br>
              <a:rPr lang="es-ES" dirty="0"/>
            </a:br>
            <a:endParaRPr lang="es-ES" dirty="0"/>
          </a:p>
          <a:p>
            <a:r>
              <a:rPr lang="es-ES" sz="3000" b="1" dirty="0">
                <a:solidFill>
                  <a:srgbClr val="FFCC00"/>
                </a:solidFill>
              </a:rPr>
              <a:t>Funciones de flecha</a:t>
            </a:r>
            <a:r>
              <a:rPr lang="es-ES" sz="3000" b="1" dirty="0"/>
              <a:t>: </a:t>
            </a:r>
            <a:r>
              <a:rPr lang="es-ES" sz="3000" dirty="0"/>
              <a:t>función resumida en su sintaxis.</a:t>
            </a:r>
            <a:endParaRPr lang="es-ES" sz="3000" b="1" dirty="0"/>
          </a:p>
          <a:p>
            <a:r>
              <a:rPr lang="es-ES" sz="3000" b="1" dirty="0" err="1">
                <a:solidFill>
                  <a:srgbClr val="FFCC00"/>
                </a:solidFill>
              </a:rPr>
              <a:t>Callbacks</a:t>
            </a:r>
            <a:r>
              <a:rPr lang="es-ES" sz="3000" dirty="0"/>
              <a:t>: Es pasar una función como argumento a otra.</a:t>
            </a:r>
          </a:p>
          <a:p>
            <a:r>
              <a:rPr lang="es-ES" sz="3000" b="1" dirty="0" err="1">
                <a:solidFill>
                  <a:srgbClr val="FFCC00"/>
                </a:solidFill>
              </a:rPr>
              <a:t>Promises</a:t>
            </a:r>
            <a:r>
              <a:rPr lang="es-ES" sz="3000" dirty="0"/>
              <a:t>: Un objeto que representa un valor que estará disponible </a:t>
            </a:r>
            <a:r>
              <a:rPr lang="es-ES" sz="3000" b="1" dirty="0"/>
              <a:t>ahora, en el futuro o nunca</a:t>
            </a:r>
            <a:r>
              <a:rPr lang="es-ES" sz="3000" dirty="0"/>
              <a:t>. Usando .</a:t>
            </a:r>
            <a:r>
              <a:rPr lang="es-ES" sz="3000" dirty="0" err="1"/>
              <a:t>then</a:t>
            </a:r>
            <a:r>
              <a:rPr lang="es-ES" sz="3000" dirty="0"/>
              <a:t>() para éxito .catch() para errores</a:t>
            </a:r>
          </a:p>
          <a:p>
            <a:r>
              <a:rPr lang="es-ES" sz="3000" b="1" dirty="0" err="1">
                <a:solidFill>
                  <a:srgbClr val="FFCC00"/>
                </a:solidFill>
              </a:rPr>
              <a:t>Async</a:t>
            </a:r>
            <a:r>
              <a:rPr lang="es-ES" sz="3000" b="1" dirty="0">
                <a:solidFill>
                  <a:srgbClr val="FFCC00"/>
                </a:solidFill>
              </a:rPr>
              <a:t> </a:t>
            </a:r>
            <a:r>
              <a:rPr lang="es-ES" sz="3000" b="1" dirty="0" err="1">
                <a:solidFill>
                  <a:srgbClr val="FFCC00"/>
                </a:solidFill>
              </a:rPr>
              <a:t>await</a:t>
            </a:r>
            <a:r>
              <a:rPr lang="es-ES" sz="3000" b="1" dirty="0"/>
              <a:t>: </a:t>
            </a:r>
            <a:r>
              <a:rPr lang="es-ES" sz="3000" dirty="0"/>
              <a:t>Manejo y declaración de código asíncrono</a:t>
            </a:r>
          </a:p>
          <a:p>
            <a:r>
              <a:rPr lang="es-ES" sz="3000" b="1" dirty="0">
                <a:solidFill>
                  <a:srgbClr val="FFCC00"/>
                </a:solidFill>
              </a:rPr>
              <a:t>Try </a:t>
            </a:r>
            <a:r>
              <a:rPr lang="es-ES" sz="3000" b="1" dirty="0" err="1">
                <a:solidFill>
                  <a:srgbClr val="FFCC00"/>
                </a:solidFill>
              </a:rPr>
              <a:t>cath</a:t>
            </a:r>
            <a:r>
              <a:rPr lang="es-ES" sz="3000" dirty="0"/>
              <a:t>: Bloques de manejo de intentos y errores, usado cuando tenemos el riesgo que nuestro código lance un error, y lo podemos manejar</a:t>
            </a:r>
          </a:p>
          <a:p>
            <a:r>
              <a:rPr lang="es-ES" sz="3000" dirty="0" err="1">
                <a:solidFill>
                  <a:srgbClr val="FFCC00"/>
                </a:solidFill>
              </a:rPr>
              <a:t>Fetch</a:t>
            </a:r>
            <a:r>
              <a:rPr lang="es-ES" sz="3000" dirty="0"/>
              <a:t>: Para hacer peticiones que devuelven una respuesta de algún servidor</a:t>
            </a:r>
            <a:endParaRPr lang="es-AR" sz="3000" dirty="0"/>
          </a:p>
        </p:txBody>
      </p:sp>
    </p:spTree>
    <p:extLst>
      <p:ext uri="{BB962C8B-B14F-4D97-AF65-F5344CB8AC3E}">
        <p14:creationId xmlns:p14="http://schemas.microsoft.com/office/powerpoint/2010/main" val="2977890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D442AA0-096C-4B04-B159-8D33B7CC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6960"/>
            <a:ext cx="10515600" cy="1325563"/>
          </a:xfrm>
        </p:spPr>
        <p:txBody>
          <a:bodyPr/>
          <a:lstStyle/>
          <a:p>
            <a:r>
              <a:rPr lang="es-ES" dirty="0"/>
              <a:t>Luego de Conocer bien el lenguaje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2090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F47880E-90C0-40A3-B018-3B028AC7E6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6540" y="2963861"/>
            <a:ext cx="1788459" cy="93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Para el </a:t>
            </a:r>
            <a:r>
              <a:rPr lang="es-ES" b="1" dirty="0" err="1"/>
              <a:t>Backend</a:t>
            </a:r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A4787F-3994-44EE-9FE8-B2F4AA66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1"/>
            <a:ext cx="10287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88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F47880E-90C0-40A3-B018-3B028AC7E6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6541" y="2963861"/>
            <a:ext cx="1788459" cy="93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/>
              <a:t>Para el </a:t>
            </a:r>
            <a:r>
              <a:rPr lang="es-ES" b="1" dirty="0" err="1"/>
              <a:t>Fronted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6E8EDB-1360-4196-A8DE-84599FD5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23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EF174-75FA-496C-A44F-185C69B3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Referencias y concepto estándar de </a:t>
            </a:r>
            <a:r>
              <a:rPr lang="es-ES" dirty="0" err="1"/>
              <a:t>Javascript</a:t>
            </a:r>
            <a:r>
              <a:rPr lang="es-ES" dirty="0"/>
              <a:t> en MDN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B4B78DF-6CF9-4BC0-B652-73C2DA933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3110847"/>
            <a:ext cx="10233800" cy="957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https://developer.mozilla.org/es/docs/Web/JavaScript</a:t>
            </a:r>
            <a:r>
              <a:rPr lang="es-A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4018416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Depth">
      <a:dk1>
        <a:sysClr val="windowText" lastClr="000000"/>
      </a:dk1>
      <a:lt1>
        <a:sysClr val="window" lastClr="FFFFFF"/>
      </a:lt1>
      <a:dk2>
        <a:srgbClr val="4E3B30"/>
      </a:dk2>
      <a:lt2>
        <a:srgbClr val="FFDB82"/>
      </a:lt2>
      <a:accent1>
        <a:srgbClr val="F0A22E"/>
      </a:accent1>
      <a:accent2>
        <a:srgbClr val="E4D9B2"/>
      </a:accent2>
      <a:accent3>
        <a:srgbClr val="AA986C"/>
      </a:accent3>
      <a:accent4>
        <a:srgbClr val="8FB977"/>
      </a:accent4>
      <a:accent5>
        <a:srgbClr val="778F9F"/>
      </a:accent5>
      <a:accent6>
        <a:srgbClr val="8A6087"/>
      </a:accent6>
      <a:hlink>
        <a:srgbClr val="AD1F1F"/>
      </a:hlink>
      <a:folHlink>
        <a:srgbClr val="FFC42F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C473073F-34A4-486A-BBA1-2A70AE921E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TM04033923[[fn=Profundidad]]</Template>
  <TotalTime>321</TotalTime>
  <Words>934</Words>
  <Application>Microsoft Office PowerPoint</Application>
  <PresentationFormat>Panorámica</PresentationFormat>
  <Paragraphs>173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Corbel</vt:lpstr>
      <vt:lpstr>Profundidad</vt:lpstr>
      <vt:lpstr>JavaScript</vt:lpstr>
      <vt:lpstr>Concepto</vt:lpstr>
      <vt:lpstr>Concepto</vt:lpstr>
      <vt:lpstr>Declaraciones</vt:lpstr>
      <vt:lpstr>Declaraciones</vt:lpstr>
      <vt:lpstr>Declaraciones</vt:lpstr>
      <vt:lpstr>Declaraciones</vt:lpstr>
      <vt:lpstr>Declaraciones</vt:lpstr>
      <vt:lpstr>Tipos de Datos</vt:lpstr>
      <vt:lpstr>Tipos de Datos</vt:lpstr>
      <vt:lpstr>Tipos de Datos</vt:lpstr>
      <vt:lpstr>¿Cómo saber el tipo de una variable?</vt:lpstr>
      <vt:lpstr>Diferencia entre Undefined y null</vt:lpstr>
      <vt:lpstr>Estructura condicional if</vt:lpstr>
      <vt:lpstr>Estructura condicional if</vt:lpstr>
      <vt:lpstr>Declarar una función tradicional</vt:lpstr>
      <vt:lpstr>Tabla de operadores lógicos</vt:lpstr>
      <vt:lpstr>Retorno de undefined</vt:lpstr>
      <vt:lpstr>Para qué vamos a usar JS ?</vt:lpstr>
      <vt:lpstr>JavaScript esta en todos los navegadores</vt:lpstr>
      <vt:lpstr>Motor de JavaScript</vt:lpstr>
      <vt:lpstr>Hola mundo en JS</vt:lpstr>
      <vt:lpstr>Nota final</vt:lpstr>
      <vt:lpstr>Luego de Conocer bien el lenguaje</vt:lpstr>
      <vt:lpstr>Presentación de PowerPoint</vt:lpstr>
      <vt:lpstr>Presentación de PowerPoint</vt:lpstr>
      <vt:lpstr>Referencias y concepto estándar de Javascript en MDN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Daniel</dc:creator>
  <cp:lastModifiedBy>Daniel</cp:lastModifiedBy>
  <cp:revision>54</cp:revision>
  <dcterms:created xsi:type="dcterms:W3CDTF">2025-04-09T22:31:35Z</dcterms:created>
  <dcterms:modified xsi:type="dcterms:W3CDTF">2026-08-10T21:35:34Z</dcterms:modified>
</cp:coreProperties>
</file>